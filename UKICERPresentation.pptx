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comments/modernComment_13C_7489F87E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39"/>
  </p:notesMasterIdLst>
  <p:sldIdLst>
    <p:sldId id="256" r:id="rId2"/>
    <p:sldId id="324" r:id="rId3"/>
    <p:sldId id="332" r:id="rId4"/>
    <p:sldId id="334" r:id="rId5"/>
    <p:sldId id="275" r:id="rId6"/>
    <p:sldId id="333" r:id="rId7"/>
    <p:sldId id="278" r:id="rId8"/>
    <p:sldId id="335" r:id="rId9"/>
    <p:sldId id="277" r:id="rId10"/>
    <p:sldId id="327" r:id="rId11"/>
    <p:sldId id="257" r:id="rId12"/>
    <p:sldId id="309" r:id="rId13"/>
    <p:sldId id="328" r:id="rId14"/>
    <p:sldId id="310" r:id="rId15"/>
    <p:sldId id="311" r:id="rId16"/>
    <p:sldId id="331" r:id="rId17"/>
    <p:sldId id="286" r:id="rId18"/>
    <p:sldId id="268" r:id="rId19"/>
    <p:sldId id="294" r:id="rId20"/>
    <p:sldId id="305" r:id="rId21"/>
    <p:sldId id="314" r:id="rId22"/>
    <p:sldId id="320" r:id="rId23"/>
    <p:sldId id="274" r:id="rId24"/>
    <p:sldId id="282" r:id="rId25"/>
    <p:sldId id="301" r:id="rId26"/>
    <p:sldId id="321" r:id="rId27"/>
    <p:sldId id="261" r:id="rId28"/>
    <p:sldId id="329" r:id="rId29"/>
    <p:sldId id="316" r:id="rId30"/>
    <p:sldId id="315" r:id="rId31"/>
    <p:sldId id="317" r:id="rId32"/>
    <p:sldId id="262" r:id="rId33"/>
    <p:sldId id="337" r:id="rId34"/>
    <p:sldId id="336" r:id="rId35"/>
    <p:sldId id="265" r:id="rId36"/>
    <p:sldId id="330" r:id="rId37"/>
    <p:sldId id="31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F5EC9E-CDAD-08C4-E700-9548C42E7645}" name="Juliet Wallace (student)" initials="JW(" userId="S::2760588w@student.gla.ac.uk::27078cb4-4a1d-4b88-b862-b27fb92c95a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et Wallace (student)" initials="JW(" lastIdx="2" clrIdx="0">
    <p:extLst>
      <p:ext uri="{19B8F6BF-5375-455C-9EA6-DF929625EA0E}">
        <p15:presenceInfo xmlns:p15="http://schemas.microsoft.com/office/powerpoint/2012/main" userId="S::2760588w@student.gla.ac.uk::27078cb4-4a1d-4b88-b862-b27fb92c95a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48"/>
    <p:restoredTop sz="95595"/>
  </p:normalViewPr>
  <p:slideViewPr>
    <p:cSldViewPr snapToGrid="0" snapToObjects="1">
      <p:cViewPr varScale="1">
        <p:scale>
          <a:sx n="107" d="100"/>
          <a:sy n="107" d="100"/>
        </p:scale>
        <p:origin x="4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omments/modernComment_13C_7489F87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83C0B1-FD6E-7B48-ADB4-FCCCD7A255D8}" authorId="{FDF5EC9E-CDAD-08C4-E700-9548C42E7645}" created="2026-08-27T14:48:35.128">
    <pc:sldMkLst xmlns:pc="http://schemas.microsoft.com/office/powerpoint/2013/main/command">
      <pc:docMk/>
      <pc:sldMk cId="1955199102" sldId="316"/>
    </pc:sldMkLst>
    <p188:txBody>
      <a:bodyPr/>
      <a:lstStyle/>
      <a:p>
        <a:r>
          <a:rPr lang="en-US"/>
          <a:t>need to edit table size on these slides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6:13:33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3308 175 24575,'-91'0'0,"39"0"0,-3 0 0,-11 0 0,0 0 0,5 0 0,1-2 0,2-3 0,1-1 0,0-3 0,1-1 0,1-2 0,-1-1 0,-7 1 0,-1 0 0,1 3 0,1 1 0,0 2 0,-1 1 0,-2 1 0,0 0 0,0 2 0,1 0 0,-3 0 0,1 1 0,-2 1 0,0 0 0,0 0 0,0 0 0,4 0 0,1 0 0,6 1 0,2 2 0,-44 7 0,13 9 0,2 10 0,9 3 0,8 1 0,6-3 0,6 0 0,-3 7 0,-13 12 0,31-18 0,-2 1 0,-4 4 0,-1 1 0,0 1 0,1 1 0,6-2 0,1-2 0,-27 31 0,18-11 0,13-9 0,9-5 0,8-7 0,5-1 0,5-1 0,5-1 0,2 5 0,1 4 0,0 16 0,0 20 0,-1-27 0,0 3 0,-1 10 0,0 2 0,0 7 0,-1 2 0,1-1 0,0-1 0,1-7 0,0-1 0,1-12 0,0-2 0,4 24 0,13-10 0,21 3 0,-10-27 0,4 2 0,7 6 0,1 2 0,2 2 0,0 0 0,0 1 0,-1-1 0,-3-3 0,0-1 0,-2-4 0,-1-2 0,-1-1 0,-2-2 0,27 31 0,-4-9 0,-6-12 0,-2-13 0,4-10 0,4-4 0,10 0 0,6 2 0,12 5 0,2 1 0,-2 1 0,-4-1 0,-7-1 0,-1-3 0,0-3 0,2-6 0,1-5 0,4-2 0,9-4 0,9-1 0,-45-2 0,2 0 0,3 0 0,1 1 0,5 1 0,3 1 0,17 3 0,5 2 0,-22-3 0,1 2 0,3 0-192,5 1 0,2 0 1,1 0 191,0 0 0,1-1 0,-2-1 0,25 1 0,-5-1 0,-10-4 0,-5-1 0,-19-2 0,-4 0 0,28-1 0,-25-6 0,-10-10 0,-4-15 575,-7-9-575,-1-2 0,-7 0 0,-1 1 0,2 0 0,0-5 0,6-3 0,3-5 0,6-9 0,0-1 0,-2-3 0,-1 1 0,-6-2 0,-4 2 0,-4-1 0,-6 4 0,-3 7 0,-5 2 0,-6 7 0,-2 0 0,-1-3 0,-2-2 0,4 1 0,-4 1 0,0 3 0,-4-4 0,-2-4 0,0-4 0,0-8 0,-7-1 0,-7 0 0,-10 6 0,-9 2 0,-3 2 0,-2-1 0,-2-3 0,-5-1 0,-6-8 0,21 31 0,-1-1 0,-1 0 0,0 0 0,-1 1 0,-1 1 0,-31-33 0,-1 6 0,29 30 0,-1 0 0,-3-3 0,-1 0 0,-3-2 0,-1-1 0,-4 0 0,1-1 0,-1 2 0,0 1 0,3 2 0,-1 0 0,2 3 0,1 2 0,-32-25 0,10 12 0,9 13 0,12 14 0,6 10 0,5 6 0,5 3 0,1-2 0,4-2 0,0 1 0,4 1 0,2-1 0,2 0 0,4-1 0,3 0 0,3 0 0,4-3 0,0-1 0,0-1 0,-1 1 0,2-1 0,1-7 0,1-6 0,0 7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7C40A-6FAB-AC47-B76E-775D1DC5582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1E671-051F-8E40-ABE4-3E98C0A76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90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Spatial reasoning skills: the ability to visualize space and mentally manipulate objects in 2D/3D space. Including being able to rotate an object in your head and visualize navigating a space.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1E671-051F-8E40-ABE4-3E98C0A760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61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semantic waves and ABC encourage pupils to build different non-verbal mental representations of the same problem. By </a:t>
            </a:r>
            <a:r>
              <a:rPr lang="en-US" dirty="0" err="1"/>
              <a:t>Margulieux’s</a:t>
            </a:r>
            <a:r>
              <a:rPr lang="en-US" dirty="0"/>
              <a:t> </a:t>
            </a:r>
            <a:r>
              <a:rPr lang="en-US" dirty="0" err="1"/>
              <a:t>SpES</a:t>
            </a:r>
            <a:r>
              <a:rPr lang="en-US" dirty="0"/>
              <a:t> this encourages spatial reasoning.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1E671-051F-8E40-ABE4-3E98C0A760A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14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4020E-891D-E045-866F-0EB85EBCE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41CD3-5874-3744-9351-B9C8579D3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B6472-F2BC-6144-A6B8-724FFD908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3D7-713A-9B4F-AB33-2E552059D01F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E2CB5-C475-9B42-9C04-AB8643E7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42F32-0EE5-2B45-89FF-2E5315D9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7DE0-D168-8B4A-897F-6970BD2C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32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C283-F034-3A4D-AAB5-CF745854B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3A925-2634-E04C-B8BC-B6D340D50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F724F-1234-7B4F-B950-110E52F0E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3D7-713A-9B4F-AB33-2E552059D01F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ADA4C-FB84-3D4C-A537-E7085E8A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2281F-3266-7942-A9A3-6DE8D61E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7DE0-D168-8B4A-897F-6970BD2C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9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DBEF3-3F14-DF4C-8927-23F4A08E1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63928-9A7C-7843-975B-6898FC106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4EABC-6325-BD47-B7DA-72826FE6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3D7-713A-9B4F-AB33-2E552059D01F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D6EB6-BBEE-7741-B9FA-55B740A1F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A5931-0C29-9349-ABDC-6E07B021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7DE0-D168-8B4A-897F-6970BD2C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9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527B-83CC-754D-BEA9-505EA9367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154B8-7BAE-2241-891A-FB835F91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D1A24-CC08-A141-B849-E874AF003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05B98-2A1C-194E-960F-CB9EFE9C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3D7-713A-9B4F-AB33-2E552059D01F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E6D33-A579-4644-BD86-1F6B8C8C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37B0C-3F4B-D14C-9973-5B1E8499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7DE0-D168-8B4A-897F-6970BD2C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7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8494-86D5-0B46-8A8F-74F70166B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BC11A-6FAF-FE45-B24E-75E1EF21A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441A7-1E64-4C4C-B545-069047776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046E-2A19-A642-9504-93C7557B0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33D09-D065-CA43-8A13-FAA032EDF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26BC3-B72C-F54A-B4AB-83380FBE6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3D7-713A-9B4F-AB33-2E552059D01F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7FE2CA-C884-934D-A2A2-39588406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4C9A4-8803-AF4B-B58A-0C12BC2D5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7DE0-D168-8B4A-897F-6970BD2C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0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7EFF9-4026-544B-AF7D-85EFCCD4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987B26-3E49-0D4D-ADBE-FD639F94B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3D7-713A-9B4F-AB33-2E552059D01F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D18B8-C440-B74D-AA43-18D058F50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6F0A2-E14A-2C47-96C8-82AE41267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7DE0-D168-8B4A-897F-6970BD2C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3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296BC-E2C0-3D42-99C4-B552F2FD0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3D7-713A-9B4F-AB33-2E552059D01F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E67AE-2B35-5C46-97BC-4766845BD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77632-E7A8-C243-AC9D-C78A9EA3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7DE0-D168-8B4A-897F-6970BD2C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6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F4660-4672-B94C-8B3C-FA27C81B3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F8F35-9482-5A40-B654-21A19C395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811E7-86E5-9A49-960E-C4C4805C9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566C6-A6DA-8044-9645-780F3D0CD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3D7-713A-9B4F-AB33-2E552059D01F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B43B7-0F01-794A-AC37-0ACEA0E76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9D04A-CC93-9A44-9DB2-505D5AC08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7DE0-D168-8B4A-897F-6970BD2C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05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D05A-FF46-7B4D-AFC3-E913951BF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571FA-F779-2749-8B18-CEE6611731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F7667-16DB-8B45-8555-A859C29E6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A794F-9EB5-7645-A173-27F37CAB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3D7-713A-9B4F-AB33-2E552059D01F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2487E-CF91-3B42-9CFF-99E861FBC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F764E-6D04-1640-B34D-C0B571F0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7DE0-D168-8B4A-897F-6970BD2C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9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DB39-555E-8D40-9004-6FF6785F4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90764-80B3-734D-B6B5-1B58FF6A3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43505-BBC1-B445-A7C3-8E06BEA9E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3D7-713A-9B4F-AB33-2E552059D01F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DFEC4-C850-F94F-A340-F083E46C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FE70D-CAF4-CC47-8CBE-4E9EA3CC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7DE0-D168-8B4A-897F-6970BD2C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531B5F-AE32-0D40-B0E3-5B0EA1280A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2D027-FF16-BB47-9AE8-345DE8C48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5703E-AFF0-A24F-A2B3-C19C29CD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3D7-713A-9B4F-AB33-2E552059D01F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B571C-7042-9145-8FE5-30B96ED7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8FC24-D816-DE44-9F1E-A8ADE544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7DE0-D168-8B4A-897F-6970BD2C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7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437E8-749F-F544-8770-4E024BA6D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57CA2-1F59-DC40-9B1B-2B2B7E5C3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0E8F6-110C-0445-971F-94C7E07F1E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EF3D7-713A-9B4F-AB33-2E552059D01F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52495-0D16-E04A-851E-6272CE6FC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569BD-76D5-FA4F-9793-E2AB4ECB5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97DE0-D168-8B4A-897F-6970BD2C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5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quintin.cutts@glasgow.ac.uk" TargetMode="External"/><Relationship Id="rId2" Type="http://schemas.openxmlformats.org/officeDocument/2006/relationships/hyperlink" Target="mailto:2760588w@student.gla.ac.uk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C_7489F87E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45/3724363.3729075" TargetMode="External"/><Relationship Id="rId3" Type="http://schemas.openxmlformats.org/officeDocument/2006/relationships/hyperlink" Target="https://doi.org/10.1145/3633053.3633063" TargetMode="External"/><Relationship Id="rId7" Type="http://schemas.openxmlformats.org/officeDocument/2006/relationships/hyperlink" Target="https://doi.org/10.1007/s10639-018-9747-x" TargetMode="External"/><Relationship Id="rId2" Type="http://schemas.openxmlformats.org/officeDocument/2006/relationships/hyperlink" Target="https://doi.org/10.1145/3328778.336682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jintelligence11060127" TargetMode="External"/><Relationship Id="rId5" Type="http://schemas.openxmlformats.org/officeDocument/2006/relationships/hyperlink" Target="https://doi.org/10.1080/07370008.2017.1323902" TargetMode="External"/><Relationship Id="rId10" Type="http://schemas.openxmlformats.org/officeDocument/2006/relationships/hyperlink" Target="https://doi.org/10.1007/s13394-020-00321-2" TargetMode="External"/><Relationship Id="rId4" Type="http://schemas.openxmlformats.org/officeDocument/2006/relationships/hyperlink" Target="https://doi.org/10.1145/3421590.3421606" TargetMode="External"/><Relationship Id="rId9" Type="http://schemas.openxmlformats.org/officeDocument/2006/relationships/hyperlink" Target="https://doi.org/10.1145/3341525.338741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6B62E-1873-8A47-B31F-45B39A9FE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4985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/>
              <a:t>Investigating the relationships between spatial skills, programming and attitudes towards computing in a middle school age group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7A05F-F31A-BD42-8E7B-F94F1F158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779" y="4729188"/>
            <a:ext cx="10522442" cy="1127150"/>
          </a:xfrm>
        </p:spPr>
        <p:txBody>
          <a:bodyPr>
            <a:normAutofit/>
          </a:bodyPr>
          <a:lstStyle/>
          <a:p>
            <a:r>
              <a:rPr lang="en-US" sz="3600" dirty="0"/>
              <a:t>Juliet Wallace and Quintin Cutts, University of Glasgow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A7DB6-0832-804C-8FC6-B85225EDA4A0}"/>
              </a:ext>
            </a:extLst>
          </p:cNvPr>
          <p:cNvSpPr txBox="1"/>
          <p:nvPr/>
        </p:nvSpPr>
        <p:spPr>
          <a:xfrm>
            <a:off x="1201470" y="5456228"/>
            <a:ext cx="1052244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linkClick r:id="rId2"/>
              </a:rPr>
              <a:t>2760588w@student.gla.ac.uk</a:t>
            </a:r>
            <a:r>
              <a:rPr lang="en-US" sz="2800" b="1" dirty="0"/>
              <a:t> </a:t>
            </a:r>
            <a:r>
              <a:rPr lang="en-US" sz="2800" dirty="0"/>
              <a:t>and</a:t>
            </a:r>
            <a:r>
              <a:rPr lang="en-US" sz="2800" b="1" dirty="0"/>
              <a:t> </a:t>
            </a:r>
            <a:r>
              <a:rPr lang="en-US" sz="2800" b="1" dirty="0">
                <a:hlinkClick r:id="rId3"/>
              </a:rPr>
              <a:t>quintin.cutts@glasgow.ac.uk</a:t>
            </a:r>
            <a:endParaRPr lang="en-US" sz="2800" b="1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F6986D-F1D2-8044-BC04-D22D3140B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9927" y="-209859"/>
            <a:ext cx="4345878" cy="233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773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581"/>
    </mc:Choice>
    <mc:Fallback>
      <p:transition spd="slow" advTm="3058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B1E3-E17E-CF2F-445D-3E8E059E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spatial reasoning quiz…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6830C4-5BBA-47E7-224B-FD0A124C6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63" y="1371867"/>
            <a:ext cx="6150409" cy="54861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7D4B66-A68B-1065-68AF-AAC3845A3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517" y="1988323"/>
            <a:ext cx="1676400" cy="4432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76B372-622E-76AE-1BF5-D0593C6A61F0}"/>
              </a:ext>
            </a:extLst>
          </p:cNvPr>
          <p:cNvSpPr txBox="1"/>
          <p:nvPr/>
        </p:nvSpPr>
        <p:spPr>
          <a:xfrm>
            <a:off x="9108374" y="261257"/>
            <a:ext cx="2838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Taken from the Spatial Reasoning Instrument (Ramful et. al., 2018)</a:t>
            </a:r>
          </a:p>
        </p:txBody>
      </p:sp>
    </p:spTree>
    <p:extLst>
      <p:ext uri="{BB962C8B-B14F-4D97-AF65-F5344CB8AC3E}">
        <p14:creationId xmlns:p14="http://schemas.microsoft.com/office/powerpoint/2010/main" val="4162089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448"/>
    </mc:Choice>
    <mc:Fallback>
      <p:transition spd="slow" advTm="5444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B609F-F18F-ACC6-AD56-1068358DD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DB6D2-2FC9-F8E3-BD3C-810F6C78D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spatial reasoning quiz…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CC2869-80CF-97C1-3500-4602F6B17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63" y="1371867"/>
            <a:ext cx="6150409" cy="54861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CF7B9D-EDAF-74B9-6479-CBF2A56B0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517" y="1988323"/>
            <a:ext cx="1676400" cy="44323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15351FD-B36D-A99C-6422-382E7447E434}"/>
                  </a:ext>
                </a:extLst>
              </p14:cNvPr>
              <p14:cNvContentPartPr/>
              <p14:nvPr/>
            </p14:nvContentPartPr>
            <p14:xfrm>
              <a:off x="7738560" y="4203951"/>
              <a:ext cx="1650960" cy="1230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15351FD-B36D-A99C-6422-382E7447E4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20560" y="4186311"/>
                <a:ext cx="1686600" cy="12661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DD4AAB8-A48D-678A-6306-AA85A512FE29}"/>
              </a:ext>
            </a:extLst>
          </p:cNvPr>
          <p:cNvSpPr txBox="1"/>
          <p:nvPr/>
        </p:nvSpPr>
        <p:spPr>
          <a:xfrm>
            <a:off x="9108374" y="261257"/>
            <a:ext cx="2838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Taken from the Spatial Reasoning Instrument (Ramful et. al., 2018)</a:t>
            </a:r>
          </a:p>
        </p:txBody>
      </p:sp>
    </p:spTree>
    <p:extLst>
      <p:ext uri="{BB962C8B-B14F-4D97-AF65-F5344CB8AC3E}">
        <p14:creationId xmlns:p14="http://schemas.microsoft.com/office/powerpoint/2010/main" val="3052569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729"/>
    </mc:Choice>
    <mc:Fallback>
      <p:transition spd="slow" advTm="1572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4C4ED-55EC-B26A-0D14-E513DF7B6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D5FD4-5D0F-62BB-A7E6-14EA9054F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Significant prior research connecting spatial skills to computing science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more information, checkout:</a:t>
            </a:r>
          </a:p>
          <a:p>
            <a:r>
              <a:rPr lang="en-US" dirty="0"/>
              <a:t>Code navigation (Jones and Burnett, 2007)</a:t>
            </a:r>
          </a:p>
          <a:p>
            <a:r>
              <a:rPr lang="en-US" dirty="0"/>
              <a:t>Proposed model connecting reading/writing code to spatial skills (Parkinson and Cutts, 2019)</a:t>
            </a:r>
          </a:p>
          <a:p>
            <a:r>
              <a:rPr lang="en-US" dirty="0"/>
              <a:t>Spatial Encoding Strategy (</a:t>
            </a:r>
            <a:r>
              <a:rPr lang="en-US" dirty="0" err="1"/>
              <a:t>Margulieux</a:t>
            </a:r>
            <a:r>
              <a:rPr lang="en-US" dirty="0"/>
              <a:t>, 2020)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76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186"/>
    </mc:Choice>
    <mc:Fallback>
      <p:transition spd="slow" advTm="2918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6FCFB5-F303-CB89-2544-EC5349A160A7}"/>
              </a:ext>
            </a:extLst>
          </p:cNvPr>
          <p:cNvSpPr/>
          <p:nvPr/>
        </p:nvSpPr>
        <p:spPr>
          <a:xfrm>
            <a:off x="5486401" y="1824920"/>
            <a:ext cx="6483926" cy="466795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C900F-9D00-4448-9CEB-AE04BA66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- Research Gap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1445F7-BA81-884E-B28C-2BA6435606B6}"/>
              </a:ext>
            </a:extLst>
          </p:cNvPr>
          <p:cNvSpPr/>
          <p:nvPr/>
        </p:nvSpPr>
        <p:spPr>
          <a:xfrm>
            <a:off x="838200" y="1825625"/>
            <a:ext cx="4018808" cy="1440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Introduction of spatial skills training modules in undergraduate CS courses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821F1F-CE15-DE6B-BD68-DA7AB6F4A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16" y="2306745"/>
            <a:ext cx="5687842" cy="37043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E88732-BC19-722C-CCCA-98128EF15600}"/>
              </a:ext>
            </a:extLst>
          </p:cNvPr>
          <p:cNvSpPr txBox="1"/>
          <p:nvPr/>
        </p:nvSpPr>
        <p:spPr>
          <a:xfrm>
            <a:off x="0" y="6169709"/>
            <a:ext cx="4987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References: Parkinson and Cutts (2020), Bockmon et al. (2020), Parkinson et al. (2023)</a:t>
            </a:r>
          </a:p>
        </p:txBody>
      </p:sp>
    </p:spTree>
    <p:extLst>
      <p:ext uri="{BB962C8B-B14F-4D97-AF65-F5344CB8AC3E}">
        <p14:creationId xmlns:p14="http://schemas.microsoft.com/office/powerpoint/2010/main" val="1938710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975"/>
    </mc:Choice>
    <mc:Fallback>
      <p:transition spd="slow" advTm="3297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28C3D-9159-8A96-AACC-15FD4D0A2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861A28-F52A-8702-7C45-6AE8C3B28E12}"/>
              </a:ext>
            </a:extLst>
          </p:cNvPr>
          <p:cNvSpPr/>
          <p:nvPr/>
        </p:nvSpPr>
        <p:spPr>
          <a:xfrm>
            <a:off x="5486401" y="1824920"/>
            <a:ext cx="6483926" cy="466795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3AFC24-D2E5-AFD6-FC3B-475693781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- Research Gap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2E634F-F98E-BBF3-9236-881E1C183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16" y="2306745"/>
            <a:ext cx="5687842" cy="37043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E6E49E-7032-D88C-D1E4-2CF03CF4D163}"/>
              </a:ext>
            </a:extLst>
          </p:cNvPr>
          <p:cNvSpPr txBox="1"/>
          <p:nvPr/>
        </p:nvSpPr>
        <p:spPr>
          <a:xfrm>
            <a:off x="0" y="6169709"/>
            <a:ext cx="4987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References: Parkinson and Cutts (2020), Bockmon et al. (2020), Parkinson et al. (2023)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4C9FDD-671D-6A02-429C-ECE1D4C9A19A}"/>
              </a:ext>
            </a:extLst>
          </p:cNvPr>
          <p:cNvSpPr/>
          <p:nvPr/>
        </p:nvSpPr>
        <p:spPr>
          <a:xfrm>
            <a:off x="838199" y="3615905"/>
            <a:ext cx="4006932" cy="115797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-&gt; Improved CS grades for students who took spatial skills module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762F38-69EA-3C52-2EAD-2C066A6DE8B6}"/>
              </a:ext>
            </a:extLst>
          </p:cNvPr>
          <p:cNvSpPr/>
          <p:nvPr/>
        </p:nvSpPr>
        <p:spPr>
          <a:xfrm>
            <a:off x="838200" y="1825625"/>
            <a:ext cx="4006931" cy="1440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Introduction of spatial skills training modules in undergraduate CS courses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E305AF-E670-9C43-05C8-7275A58FD5AF}"/>
              </a:ext>
            </a:extLst>
          </p:cNvPr>
          <p:cNvSpPr/>
          <p:nvPr/>
        </p:nvSpPr>
        <p:spPr>
          <a:xfrm>
            <a:off x="838199" y="4892807"/>
            <a:ext cx="4006932" cy="115797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-&gt; Bidirectional CS &lt;-&gt; spatial skills relationship</a:t>
            </a:r>
          </a:p>
        </p:txBody>
      </p:sp>
    </p:spTree>
    <p:extLst>
      <p:ext uri="{BB962C8B-B14F-4D97-AF65-F5344CB8AC3E}">
        <p14:creationId xmlns:p14="http://schemas.microsoft.com/office/powerpoint/2010/main" val="3515491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531"/>
    </mc:Choice>
    <mc:Fallback>
      <p:transition spd="slow" advTm="1853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9302C-34C9-5F7F-73AD-59BB74FF5BBC}"/>
              </a:ext>
            </a:extLst>
          </p:cNvPr>
          <p:cNvSpPr/>
          <p:nvPr/>
        </p:nvSpPr>
        <p:spPr>
          <a:xfrm>
            <a:off x="118753" y="1690688"/>
            <a:ext cx="8229599" cy="35700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C900F-9D00-4448-9CEB-AE04BA66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- Research Gap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94B83-2B3F-9840-B796-FCF43AE99E13}"/>
              </a:ext>
            </a:extLst>
          </p:cNvPr>
          <p:cNvSpPr/>
          <p:nvPr/>
        </p:nvSpPr>
        <p:spPr>
          <a:xfrm>
            <a:off x="8502732" y="1668513"/>
            <a:ext cx="3459763" cy="2095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Integrated </a:t>
            </a:r>
            <a:r>
              <a:rPr lang="en-US" sz="2400" dirty="0" err="1"/>
              <a:t>maths</a:t>
            </a:r>
            <a:r>
              <a:rPr lang="en-US" sz="2400" dirty="0"/>
              <a:t>/spatial skills </a:t>
            </a:r>
            <a:r>
              <a:rPr lang="en-US" sz="2400" dirty="0" err="1"/>
              <a:t>programmes</a:t>
            </a:r>
            <a:r>
              <a:rPr lang="en-US" sz="2400" dirty="0"/>
              <a:t> for primary school pupils in Scotland, Canada + Australia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0AAFB3-6820-A6FF-900D-D05D3BE8B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05" y="2066337"/>
            <a:ext cx="7864064" cy="29703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932A64-1446-5F67-3F37-91DAD6B3672A}"/>
              </a:ext>
            </a:extLst>
          </p:cNvPr>
          <p:cNvSpPr txBox="1"/>
          <p:nvPr/>
        </p:nvSpPr>
        <p:spPr>
          <a:xfrm>
            <a:off x="0" y="5934670"/>
            <a:ext cx="517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References: Lowrie and Logan (2023), Hawes et. al. (2022), Parkinson and Cutts (2025)</a:t>
            </a:r>
          </a:p>
        </p:txBody>
      </p:sp>
    </p:spTree>
    <p:extLst>
      <p:ext uri="{BB962C8B-B14F-4D97-AF65-F5344CB8AC3E}">
        <p14:creationId xmlns:p14="http://schemas.microsoft.com/office/powerpoint/2010/main" val="2903457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462"/>
    </mc:Choice>
    <mc:Fallback>
      <p:transition spd="slow" advTm="2946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4F528-FE59-6000-D937-8954FD9DE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513B2A2-151A-2D47-E6D6-810B271169BE}"/>
              </a:ext>
            </a:extLst>
          </p:cNvPr>
          <p:cNvSpPr/>
          <p:nvPr/>
        </p:nvSpPr>
        <p:spPr>
          <a:xfrm>
            <a:off x="118753" y="1690688"/>
            <a:ext cx="8229599" cy="35700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7C5E53-CC84-B3D5-EC88-14177E36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- Research Gap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EC1AA3-3648-393B-D68B-859E7480FD2C}"/>
              </a:ext>
            </a:extLst>
          </p:cNvPr>
          <p:cNvSpPr/>
          <p:nvPr/>
        </p:nvSpPr>
        <p:spPr>
          <a:xfrm>
            <a:off x="8502732" y="1668513"/>
            <a:ext cx="3459763" cy="2095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Integrated </a:t>
            </a:r>
            <a:r>
              <a:rPr lang="en-US" sz="2400" dirty="0" err="1"/>
              <a:t>maths</a:t>
            </a:r>
            <a:r>
              <a:rPr lang="en-US" sz="2400" dirty="0"/>
              <a:t>/spatial skills </a:t>
            </a:r>
            <a:r>
              <a:rPr lang="en-US" sz="2400" dirty="0" err="1"/>
              <a:t>programmes</a:t>
            </a:r>
            <a:r>
              <a:rPr lang="en-US" sz="2400" dirty="0"/>
              <a:t> for primary school pupils in Scotland, Canada + Australia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34A21C-1DBD-E1D9-F262-3A7C7F299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05" y="2066337"/>
            <a:ext cx="7864064" cy="29703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26FB3D-F2A4-7A12-7ACA-ADD88AB69B4A}"/>
              </a:ext>
            </a:extLst>
          </p:cNvPr>
          <p:cNvSpPr txBox="1"/>
          <p:nvPr/>
        </p:nvSpPr>
        <p:spPr>
          <a:xfrm>
            <a:off x="0" y="5934670"/>
            <a:ext cx="517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References: Lowrie and Logan (2023), Hawes et. al. (2022), Parkinson and Cutts (2025)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9F76C1-9F08-2C99-3D51-B62DB8C99F71}"/>
              </a:ext>
            </a:extLst>
          </p:cNvPr>
          <p:cNvSpPr/>
          <p:nvPr/>
        </p:nvSpPr>
        <p:spPr>
          <a:xfrm>
            <a:off x="8502732" y="4120605"/>
            <a:ext cx="3459763" cy="15558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-&gt; More effective in training spatial skills than an ‘isolated’ spatial skill </a:t>
            </a:r>
            <a:r>
              <a:rPr lang="en-US" sz="2400" dirty="0" err="1"/>
              <a:t>programmes</a:t>
            </a:r>
            <a:r>
              <a:rPr lang="en-US" sz="2400" dirty="0"/>
              <a:t> (Australia) </a:t>
            </a:r>
          </a:p>
        </p:txBody>
      </p:sp>
    </p:spTree>
    <p:extLst>
      <p:ext uri="{BB962C8B-B14F-4D97-AF65-F5344CB8AC3E}">
        <p14:creationId xmlns:p14="http://schemas.microsoft.com/office/powerpoint/2010/main" val="674201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266"/>
    </mc:Choice>
    <mc:Fallback>
      <p:transition spd="slow" advTm="2126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900F-9D00-4448-9CEB-AE04BA66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- Research Gap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3A121B9-9EAA-6D7D-3556-58EB1B83AEED}"/>
              </a:ext>
            </a:extLst>
          </p:cNvPr>
          <p:cNvSpPr/>
          <p:nvPr/>
        </p:nvSpPr>
        <p:spPr>
          <a:xfrm>
            <a:off x="3740336" y="1448616"/>
            <a:ext cx="3970316" cy="1730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Bidirectional CS &lt;-&gt; spatial skills relationship at undergraduate level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B400610-58C6-39C7-5B67-2BB819AB0893}"/>
              </a:ext>
            </a:extLst>
          </p:cNvPr>
          <p:cNvSpPr/>
          <p:nvPr/>
        </p:nvSpPr>
        <p:spPr>
          <a:xfrm>
            <a:off x="478969" y="4667520"/>
            <a:ext cx="4081155" cy="1730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Integrated spatial/mathematics programmes for primary school pupils</a:t>
            </a:r>
          </a:p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9CEE79-4CF9-11C4-7248-AB8501CD4E8E}"/>
              </a:ext>
            </a:extLst>
          </p:cNvPr>
          <p:cNvSpPr/>
          <p:nvPr/>
        </p:nvSpPr>
        <p:spPr>
          <a:xfrm>
            <a:off x="6890863" y="4616709"/>
            <a:ext cx="3970316" cy="178129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Integrated spatial/computing science programmes for primary school pupils?</a:t>
            </a:r>
          </a:p>
          <a:p>
            <a:pPr algn="ctr"/>
            <a:endParaRPr lang="en-US" dirty="0"/>
          </a:p>
        </p:txBody>
      </p:sp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D6DE64B2-39DA-2F96-94F3-102D8A6B7A9F}"/>
              </a:ext>
            </a:extLst>
          </p:cNvPr>
          <p:cNvSpPr/>
          <p:nvPr/>
        </p:nvSpPr>
        <p:spPr>
          <a:xfrm>
            <a:off x="4656714" y="5330882"/>
            <a:ext cx="2137559" cy="403761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-right Arrow 12">
            <a:extLst>
              <a:ext uri="{FF2B5EF4-FFF2-40B4-BE49-F238E27FC236}">
                <a16:creationId xmlns:a16="http://schemas.microsoft.com/office/drawing/2014/main" id="{A1C60B38-6A73-3D32-9434-B158A6F759C1}"/>
              </a:ext>
            </a:extLst>
          </p:cNvPr>
          <p:cNvSpPr/>
          <p:nvPr/>
        </p:nvSpPr>
        <p:spPr>
          <a:xfrm rot="3449349">
            <a:off x="7271019" y="3637180"/>
            <a:ext cx="1752102" cy="403761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-right Arrow 13">
            <a:extLst>
              <a:ext uri="{FF2B5EF4-FFF2-40B4-BE49-F238E27FC236}">
                <a16:creationId xmlns:a16="http://schemas.microsoft.com/office/drawing/2014/main" id="{3A79B59E-446A-D57A-F64B-B2361AE1D2D3}"/>
              </a:ext>
            </a:extLst>
          </p:cNvPr>
          <p:cNvSpPr/>
          <p:nvPr/>
        </p:nvSpPr>
        <p:spPr>
          <a:xfrm rot="18581452">
            <a:off x="2328152" y="3637181"/>
            <a:ext cx="1752102" cy="403761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31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865"/>
    </mc:Choice>
    <mc:Fallback>
      <p:transition spd="slow" advTm="2686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E1AB2-F29F-50BD-1E97-188D93CBC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F76E-DF21-213D-535F-1A6A7327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- Research Gap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F2AE4BC-D05B-28D0-5BF8-62CC5DB93232}"/>
              </a:ext>
            </a:extLst>
          </p:cNvPr>
          <p:cNvSpPr/>
          <p:nvPr/>
        </p:nvSpPr>
        <p:spPr>
          <a:xfrm>
            <a:off x="3740336" y="1448616"/>
            <a:ext cx="3970316" cy="1730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Bidirectional CS &lt;-&gt; spatial skills relationship at undergraduate level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6D70473-DB30-A64D-B8FE-4B5E2BC68D95}"/>
              </a:ext>
            </a:extLst>
          </p:cNvPr>
          <p:cNvSpPr/>
          <p:nvPr/>
        </p:nvSpPr>
        <p:spPr>
          <a:xfrm>
            <a:off x="478969" y="4667520"/>
            <a:ext cx="4081155" cy="1730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Integrated spatial/mathematics programmes for primary school pupils</a:t>
            </a:r>
          </a:p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099854-2A37-7C00-F2D8-01EB0B646A97}"/>
              </a:ext>
            </a:extLst>
          </p:cNvPr>
          <p:cNvSpPr/>
          <p:nvPr/>
        </p:nvSpPr>
        <p:spPr>
          <a:xfrm>
            <a:off x="6890863" y="4616709"/>
            <a:ext cx="3970316" cy="178129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Integrated spatial/computing science programmes for primary school pupils?</a:t>
            </a:r>
          </a:p>
          <a:p>
            <a:pPr algn="ctr"/>
            <a:endParaRPr lang="en-US" dirty="0"/>
          </a:p>
        </p:txBody>
      </p:sp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50C6E2EF-3278-3034-B523-807221A75513}"/>
              </a:ext>
            </a:extLst>
          </p:cNvPr>
          <p:cNvSpPr/>
          <p:nvPr/>
        </p:nvSpPr>
        <p:spPr>
          <a:xfrm>
            <a:off x="4656714" y="5330882"/>
            <a:ext cx="2137559" cy="403761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-right Arrow 12">
            <a:extLst>
              <a:ext uri="{FF2B5EF4-FFF2-40B4-BE49-F238E27FC236}">
                <a16:creationId xmlns:a16="http://schemas.microsoft.com/office/drawing/2014/main" id="{04408CF9-16B7-7C95-CF3D-6E616E00C25D}"/>
              </a:ext>
            </a:extLst>
          </p:cNvPr>
          <p:cNvSpPr/>
          <p:nvPr/>
        </p:nvSpPr>
        <p:spPr>
          <a:xfrm rot="3449349">
            <a:off x="7271019" y="3637180"/>
            <a:ext cx="1752102" cy="403761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-right Arrow 13">
            <a:extLst>
              <a:ext uri="{FF2B5EF4-FFF2-40B4-BE49-F238E27FC236}">
                <a16:creationId xmlns:a16="http://schemas.microsoft.com/office/drawing/2014/main" id="{F660160D-FF1C-AF60-F6E8-0EB71992FD2F}"/>
              </a:ext>
            </a:extLst>
          </p:cNvPr>
          <p:cNvSpPr/>
          <p:nvPr/>
        </p:nvSpPr>
        <p:spPr>
          <a:xfrm rot="18581452">
            <a:off x="2328152" y="3637181"/>
            <a:ext cx="1752102" cy="403761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loud Callout 5">
            <a:extLst>
              <a:ext uri="{FF2B5EF4-FFF2-40B4-BE49-F238E27FC236}">
                <a16:creationId xmlns:a16="http://schemas.microsoft.com/office/drawing/2014/main" id="{0A11E775-F5E8-9CCF-2302-BA8AA5A68CA8}"/>
              </a:ext>
            </a:extLst>
          </p:cNvPr>
          <p:cNvSpPr/>
          <p:nvPr/>
        </p:nvSpPr>
        <p:spPr>
          <a:xfrm>
            <a:off x="7684685" y="815292"/>
            <a:ext cx="4207823" cy="3462473"/>
          </a:xfrm>
          <a:prstGeom prst="cloudCallou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Would integrated spatial/computing lessons be an effective teaching strategy for primary school pupils? </a:t>
            </a:r>
          </a:p>
        </p:txBody>
      </p:sp>
    </p:spTree>
    <p:extLst>
      <p:ext uri="{BB962C8B-B14F-4D97-AF65-F5344CB8AC3E}">
        <p14:creationId xmlns:p14="http://schemas.microsoft.com/office/powerpoint/2010/main" val="3246459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78"/>
    </mc:Choice>
    <mc:Fallback>
      <p:transition spd="slow" advTm="987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21E5E-418C-1F43-84D4-F3E77BA9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4953D-9EF7-0D42-99D2-3E8959332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a primary school classroom assistant in Scotland</a:t>
            </a:r>
          </a:p>
          <a:p>
            <a:r>
              <a:rPr lang="en-US" dirty="0"/>
              <a:t>Working with P7 (Y6) class (&gt; 30 pupils)</a:t>
            </a:r>
          </a:p>
        </p:txBody>
      </p:sp>
    </p:spTree>
    <p:extLst>
      <p:ext uri="{BB962C8B-B14F-4D97-AF65-F5344CB8AC3E}">
        <p14:creationId xmlns:p14="http://schemas.microsoft.com/office/powerpoint/2010/main" val="2652010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486"/>
    </mc:Choice>
    <mc:Fallback>
      <p:transition spd="slow" advTm="948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3C70C-56A6-C3F7-075F-894B39CE1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768B-6375-BD87-2F1A-73E9E7827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BC9D-1E81-D72B-BC1B-E3921962A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a primary school classroom assistant in Scotland</a:t>
            </a:r>
          </a:p>
          <a:p>
            <a:r>
              <a:rPr lang="en-US" dirty="0"/>
              <a:t>Working with P7 (Y6) class (&gt; 30 pupils)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Two components:</a:t>
            </a:r>
          </a:p>
        </p:txBody>
      </p:sp>
    </p:spTree>
    <p:extLst>
      <p:ext uri="{BB962C8B-B14F-4D97-AF65-F5344CB8AC3E}">
        <p14:creationId xmlns:p14="http://schemas.microsoft.com/office/powerpoint/2010/main" val="3767560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2"/>
    </mc:Choice>
    <mc:Fallback>
      <p:transition spd="slow" advTm="100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E59B-D4F1-2854-83C7-18214E97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55DA-A67C-9E6E-5B55-E7D104CD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7F0AC-D3EF-A2C1-F11C-E4C5BDDC0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a primary school classroom assistant in Scotland</a:t>
            </a:r>
          </a:p>
          <a:p>
            <a:r>
              <a:rPr lang="en-US" dirty="0"/>
              <a:t>Working with P7 (Y6) class (&gt; 30 pupils)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Two components: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Establish whether the connection between computing science (both performance and attitudes) and spatial skills exists in this age group</a:t>
            </a:r>
          </a:p>
        </p:txBody>
      </p:sp>
    </p:spTree>
    <p:extLst>
      <p:ext uri="{BB962C8B-B14F-4D97-AF65-F5344CB8AC3E}">
        <p14:creationId xmlns:p14="http://schemas.microsoft.com/office/powerpoint/2010/main" val="627816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129"/>
    </mc:Choice>
    <mc:Fallback>
      <p:transition spd="slow" advTm="1512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BC2D9-E76C-0BA9-8E64-E4F6C392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9720-EEB5-A3CE-2558-0DE6579F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FE0F-2E4F-933E-3FDB-3F8F41F70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a primary school classroom assistant in Scotland</a:t>
            </a:r>
          </a:p>
          <a:p>
            <a:r>
              <a:rPr lang="en-US" dirty="0"/>
              <a:t>Working with P7 (Y6) class (&gt; 30 pupils)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Two components: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Establish whether the connection between computing science (both performance and attitudes) and spatial skills exists in this age group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Explore pupils’ responses to a </a:t>
            </a:r>
            <a:r>
              <a:rPr lang="en-US" dirty="0" err="1"/>
              <a:t>programme</a:t>
            </a:r>
            <a:r>
              <a:rPr lang="en-US" dirty="0"/>
              <a:t> of integrated spatial/computing lessons</a:t>
            </a:r>
          </a:p>
        </p:txBody>
      </p:sp>
    </p:spTree>
    <p:extLst>
      <p:ext uri="{BB962C8B-B14F-4D97-AF65-F5344CB8AC3E}">
        <p14:creationId xmlns:p14="http://schemas.microsoft.com/office/powerpoint/2010/main" val="1798970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71"/>
    </mc:Choice>
    <mc:Fallback>
      <p:transition spd="slow" advTm="737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1D0F-5953-18AA-C01B-7C3FDB4CF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179FD-172E-1905-2601-E1E593ECE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 x 90 minute </a:t>
            </a:r>
            <a:r>
              <a:rPr lang="en-US" b="1" dirty="0"/>
              <a:t>Python</a:t>
            </a:r>
            <a:r>
              <a:rPr lang="en-US" dirty="0"/>
              <a:t> lessons with pre- and post-assessments</a:t>
            </a:r>
          </a:p>
          <a:p>
            <a:r>
              <a:rPr lang="en-US" dirty="0"/>
              <a:t>Spatial skills </a:t>
            </a:r>
            <a:r>
              <a:rPr lang="en-US" b="1" dirty="0"/>
              <a:t>integrated </a:t>
            </a:r>
            <a:r>
              <a:rPr lang="en-US" dirty="0"/>
              <a:t>into lessons – more details later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Pre-assessments: spatial reasoning test (SRI) + attitudes questionnaire</a:t>
            </a:r>
          </a:p>
          <a:p>
            <a:r>
              <a:rPr lang="en-US" dirty="0"/>
              <a:t>Post-assessments: repeat of spatial reasoning test (SRI) + attitudes questionnaire + Python assessment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Other data collected: exit passes, focus group sessions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381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757"/>
    </mc:Choice>
    <mc:Fallback>
      <p:transition spd="slow" advTm="5775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8C861-71C5-119F-D104-A40EE2F3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B5C4-5193-A95E-9726-4981D700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C3BF6-99E6-6F22-CD31-69EA4EDA9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283" y="1564555"/>
            <a:ext cx="10515600" cy="4351338"/>
          </a:xfrm>
        </p:spPr>
        <p:txBody>
          <a:bodyPr/>
          <a:lstStyle/>
          <a:p>
            <a:r>
              <a:rPr lang="en-US" dirty="0"/>
              <a:t>Previous Scratch experience – following instructions rather than learning concepts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5F924-8A74-9DFC-2CA2-0126195A2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625" y="2496402"/>
            <a:ext cx="8417248" cy="261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58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201"/>
    </mc:Choice>
    <mc:Fallback>
      <p:transition spd="slow" advTm="3420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3D709-5CB2-7347-88D6-05443B0B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D543C-346B-6A4D-821B-9047BD90D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283" y="1564555"/>
            <a:ext cx="10515600" cy="4351338"/>
          </a:xfrm>
        </p:spPr>
        <p:txBody>
          <a:bodyPr/>
          <a:lstStyle/>
          <a:p>
            <a:r>
              <a:rPr lang="en-US" dirty="0"/>
              <a:t>Previous Scratch experience – following instructions rather than learning concepts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0DA3B1-AE39-8BCA-371A-D63ABFF6F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625" y="2496402"/>
            <a:ext cx="8417248" cy="26137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9FF9ED-9953-AC44-F5C3-126D601B0E9F}"/>
              </a:ext>
            </a:extLst>
          </p:cNvPr>
          <p:cNvSpPr txBox="1"/>
          <p:nvPr/>
        </p:nvSpPr>
        <p:spPr>
          <a:xfrm>
            <a:off x="838199" y="5293445"/>
            <a:ext cx="95304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 Chose Python to encourage a different mode of thinking about programming</a:t>
            </a:r>
          </a:p>
        </p:txBody>
      </p:sp>
    </p:spTree>
    <p:extLst>
      <p:ext uri="{BB962C8B-B14F-4D97-AF65-F5344CB8AC3E}">
        <p14:creationId xmlns:p14="http://schemas.microsoft.com/office/powerpoint/2010/main" val="4007764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17"/>
    </mc:Choice>
    <mc:Fallback>
      <p:transition spd="slow" advTm="891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C5EB-A11E-8843-9258-6DB80EB47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Lessons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B1F456-4EED-AE44-993E-D4A039E78A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5284503"/>
              </p:ext>
            </p:extLst>
          </p:nvPr>
        </p:nvGraphicFramePr>
        <p:xfrm>
          <a:off x="838200" y="1825625"/>
          <a:ext cx="10515602" cy="4541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257801">
                  <a:extLst>
                    <a:ext uri="{9D8B030D-6E8A-4147-A177-3AD203B41FA5}">
                      <a16:colId xmlns:a16="http://schemas.microsoft.com/office/drawing/2014/main" val="707727757"/>
                    </a:ext>
                  </a:extLst>
                </a:gridCol>
                <a:gridCol w="5257801">
                  <a:extLst>
                    <a:ext uri="{9D8B030D-6E8A-4147-A177-3AD203B41FA5}">
                      <a16:colId xmlns:a16="http://schemas.microsoft.com/office/drawing/2014/main" val="809405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Lesson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237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Scratch pen tool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806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Python print and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823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Python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88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Python if/else statements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269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Python more variables and turtle 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067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Python turtle group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49499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93B2693-5627-C34B-7C30-7D2CF101B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900" y="0"/>
            <a:ext cx="3086100" cy="3086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A4B7A3-4E70-16E0-AB4B-CAE1472909D1}"/>
              </a:ext>
            </a:extLst>
          </p:cNvPr>
          <p:cNvSpPr txBox="1"/>
          <p:nvPr/>
        </p:nvSpPr>
        <p:spPr>
          <a:xfrm>
            <a:off x="6939642" y="843240"/>
            <a:ext cx="259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Materials available on GitHub -&gt;</a:t>
            </a:r>
          </a:p>
        </p:txBody>
      </p:sp>
    </p:spTree>
    <p:extLst>
      <p:ext uri="{BB962C8B-B14F-4D97-AF65-F5344CB8AC3E}">
        <p14:creationId xmlns:p14="http://schemas.microsoft.com/office/powerpoint/2010/main" val="4237224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477"/>
    </mc:Choice>
    <mc:Fallback>
      <p:transition spd="slow" advTm="2847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6BEC6B-5C77-412D-B45A-5B0F46F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08270-9928-7A4E-82E6-7F38A9C33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14"/>
            <a:ext cx="10515600" cy="1481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Lesson Structure – Semantic Waves + ABC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B94D3-0868-0942-A54C-9C5D71F3D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257" y="1467220"/>
            <a:ext cx="3990968" cy="4272681"/>
          </a:xfrm>
        </p:spPr>
        <p:txBody>
          <a:bodyPr>
            <a:normAutofit/>
          </a:bodyPr>
          <a:lstStyle/>
          <a:p>
            <a:r>
              <a:rPr lang="en-US" sz="2400" dirty="0"/>
              <a:t>Lesson structured using the semantic waves teaching pattern (Curzon et. al. (2020))</a:t>
            </a:r>
          </a:p>
          <a:p>
            <a:r>
              <a:rPr lang="en-US" sz="2400" dirty="0"/>
              <a:t>ABC framework (Cutts (2024)) used to approach programming problems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BB07F-56D2-2092-24D2-9A4ED3CEAA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1" b="1"/>
          <a:stretch>
            <a:fillRect/>
          </a:stretch>
        </p:blipFill>
        <p:spPr>
          <a:xfrm>
            <a:off x="6026281" y="1936696"/>
            <a:ext cx="6162670" cy="42726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F93D38-B5F0-566E-14E5-16B2C412B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53" y="3983467"/>
            <a:ext cx="6230988" cy="20672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B5675C-1F44-42F0-541D-87F33519303E}"/>
              </a:ext>
            </a:extLst>
          </p:cNvPr>
          <p:cNvSpPr txBox="1"/>
          <p:nvPr/>
        </p:nvSpPr>
        <p:spPr>
          <a:xfrm>
            <a:off x="7576898" y="1797049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Image credit: Curzon et. al. (2020)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E1BEE6-577F-A61A-72C3-31D6415E9F4C}"/>
              </a:ext>
            </a:extLst>
          </p:cNvPr>
          <p:cNvSpPr txBox="1"/>
          <p:nvPr/>
        </p:nvSpPr>
        <p:spPr>
          <a:xfrm>
            <a:off x="676689" y="6085012"/>
            <a:ext cx="4916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credit: Cutts (2024)</a:t>
            </a:r>
          </a:p>
        </p:txBody>
      </p:sp>
    </p:spTree>
    <p:extLst>
      <p:ext uri="{BB962C8B-B14F-4D97-AF65-F5344CB8AC3E}">
        <p14:creationId xmlns:p14="http://schemas.microsoft.com/office/powerpoint/2010/main" val="3736660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240"/>
    </mc:Choice>
    <mc:Fallback>
      <p:transition spd="slow" advTm="10124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108993C-0EDE-554F-A04D-E93FF131CBC6}"/>
              </a:ext>
            </a:extLst>
          </p:cNvPr>
          <p:cNvSpPr/>
          <p:nvPr/>
        </p:nvSpPr>
        <p:spPr>
          <a:xfrm>
            <a:off x="6771664" y="2145561"/>
            <a:ext cx="2186431" cy="98709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9611DF-F88A-B245-BB36-7F49E2E1B6F5}"/>
              </a:ext>
            </a:extLst>
          </p:cNvPr>
          <p:cNvSpPr/>
          <p:nvPr/>
        </p:nvSpPr>
        <p:spPr>
          <a:xfrm>
            <a:off x="2121415" y="5610105"/>
            <a:ext cx="1639336" cy="882751"/>
          </a:xfrm>
          <a:prstGeom prst="rect">
            <a:avLst/>
          </a:prstGeom>
          <a:solidFill>
            <a:schemeClr val="accent2">
              <a:tint val="66000"/>
              <a:satMod val="1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719985-6A28-8D48-A5D7-DC40FC3509CC}"/>
              </a:ext>
            </a:extLst>
          </p:cNvPr>
          <p:cNvSpPr/>
          <p:nvPr/>
        </p:nvSpPr>
        <p:spPr>
          <a:xfrm>
            <a:off x="6456556" y="3854959"/>
            <a:ext cx="2224881" cy="79080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C487D7-AE6D-8344-BC0A-8D9D61398D10}"/>
              </a:ext>
            </a:extLst>
          </p:cNvPr>
          <p:cNvSpPr/>
          <p:nvPr/>
        </p:nvSpPr>
        <p:spPr>
          <a:xfrm>
            <a:off x="3624194" y="2862422"/>
            <a:ext cx="1515103" cy="129592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D4CDE9-FEC6-8D40-B436-92FED5C91AF9}"/>
              </a:ext>
            </a:extLst>
          </p:cNvPr>
          <p:cNvSpPr/>
          <p:nvPr/>
        </p:nvSpPr>
        <p:spPr>
          <a:xfrm>
            <a:off x="10590462" y="2257027"/>
            <a:ext cx="1358124" cy="1116620"/>
          </a:xfrm>
          <a:prstGeom prst="rect">
            <a:avLst/>
          </a:prstGeom>
          <a:solidFill>
            <a:schemeClr val="accent2">
              <a:tint val="66000"/>
              <a:satMod val="1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A18653-FA6A-B74F-9927-CA6022E4501E}"/>
              </a:ext>
            </a:extLst>
          </p:cNvPr>
          <p:cNvSpPr/>
          <p:nvPr/>
        </p:nvSpPr>
        <p:spPr>
          <a:xfrm>
            <a:off x="851415" y="1251590"/>
            <a:ext cx="1907901" cy="878649"/>
          </a:xfrm>
          <a:prstGeom prst="rect">
            <a:avLst/>
          </a:prstGeom>
          <a:solidFill>
            <a:schemeClr val="accent2">
              <a:tint val="66000"/>
              <a:satMod val="1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1969A-4097-7045-8E60-607A9CDB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2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96F76-4982-AF46-AF91-5AE4EA5BF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470" y="1344987"/>
            <a:ext cx="1884981" cy="7773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500" dirty="0"/>
              <a:t>1. Pose question to pupils: “Can you have a conversation with a computer?”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EE7987E1-FDA2-BB4B-83E0-25ECE444A2F1}"/>
              </a:ext>
            </a:extLst>
          </p:cNvPr>
          <p:cNvSpPr/>
          <p:nvPr/>
        </p:nvSpPr>
        <p:spPr>
          <a:xfrm>
            <a:off x="833347" y="2145879"/>
            <a:ext cx="10448693" cy="3433837"/>
          </a:xfrm>
          <a:custGeom>
            <a:avLst/>
            <a:gdLst>
              <a:gd name="connsiteX0" fmla="*/ 0 w 10448693"/>
              <a:gd name="connsiteY0" fmla="*/ 297228 h 3433837"/>
              <a:gd name="connsiteX1" fmla="*/ 1059366 w 10448693"/>
              <a:gd name="connsiteY1" fmla="*/ 297228 h 3433837"/>
              <a:gd name="connsiteX2" fmla="*/ 2553629 w 10448693"/>
              <a:gd name="connsiteY2" fmla="*/ 3386115 h 3433837"/>
              <a:gd name="connsiteX3" fmla="*/ 4137103 w 10448693"/>
              <a:gd name="connsiteY3" fmla="*/ 2114876 h 3433837"/>
              <a:gd name="connsiteX4" fmla="*/ 7460166 w 10448693"/>
              <a:gd name="connsiteY4" fmla="*/ 1289686 h 3433837"/>
              <a:gd name="connsiteX5" fmla="*/ 9511990 w 10448693"/>
              <a:gd name="connsiteY5" fmla="*/ 230320 h 3433837"/>
              <a:gd name="connsiteX6" fmla="*/ 10448693 w 10448693"/>
              <a:gd name="connsiteY6" fmla="*/ 107657 h 343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48693" h="3433837">
                <a:moveTo>
                  <a:pt x="0" y="297228"/>
                </a:moveTo>
                <a:cubicBezTo>
                  <a:pt x="316880" y="39820"/>
                  <a:pt x="633761" y="-217587"/>
                  <a:pt x="1059366" y="297228"/>
                </a:cubicBezTo>
                <a:cubicBezTo>
                  <a:pt x="1484971" y="812043"/>
                  <a:pt x="2040673" y="3083174"/>
                  <a:pt x="2553629" y="3386115"/>
                </a:cubicBezTo>
                <a:cubicBezTo>
                  <a:pt x="3066585" y="3689056"/>
                  <a:pt x="3319347" y="2464281"/>
                  <a:pt x="4137103" y="2114876"/>
                </a:cubicBezTo>
                <a:cubicBezTo>
                  <a:pt x="4954859" y="1765471"/>
                  <a:pt x="6564351" y="1603779"/>
                  <a:pt x="7460166" y="1289686"/>
                </a:cubicBezTo>
                <a:cubicBezTo>
                  <a:pt x="8355981" y="975593"/>
                  <a:pt x="9013902" y="427325"/>
                  <a:pt x="9511990" y="230320"/>
                </a:cubicBezTo>
                <a:cubicBezTo>
                  <a:pt x="10010078" y="33315"/>
                  <a:pt x="10229385" y="70486"/>
                  <a:pt x="10448693" y="107657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B736D0-355A-F441-8AE0-7E08E8680FA5}"/>
              </a:ext>
            </a:extLst>
          </p:cNvPr>
          <p:cNvSpPr txBox="1"/>
          <p:nvPr/>
        </p:nvSpPr>
        <p:spPr>
          <a:xfrm>
            <a:off x="2121415" y="5611147"/>
            <a:ext cx="18861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 Simple “human” conversation with partner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715B1A-8650-1240-8C34-7E0CBE14A79F}"/>
              </a:ext>
            </a:extLst>
          </p:cNvPr>
          <p:cNvSpPr txBox="1"/>
          <p:nvPr/>
        </p:nvSpPr>
        <p:spPr>
          <a:xfrm>
            <a:off x="6507950" y="3853105"/>
            <a:ext cx="22248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4. Creating conversation from 2 in Python using print and input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0EF6C8-D16B-0244-B44A-005F27C8D6CF}"/>
              </a:ext>
            </a:extLst>
          </p:cNvPr>
          <p:cNvSpPr txBox="1"/>
          <p:nvPr/>
        </p:nvSpPr>
        <p:spPr>
          <a:xfrm>
            <a:off x="10631890" y="2286679"/>
            <a:ext cx="134821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6. Search engines as an example of input/output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98E73-E0FA-5244-AD7D-50AF87651686}"/>
              </a:ext>
            </a:extLst>
          </p:cNvPr>
          <p:cNvSpPr txBox="1"/>
          <p:nvPr/>
        </p:nvSpPr>
        <p:spPr>
          <a:xfrm>
            <a:off x="6456556" y="4761571"/>
            <a:ext cx="5163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D9CACA-EF59-B84E-91F7-588855A414D3}"/>
              </a:ext>
            </a:extLst>
          </p:cNvPr>
          <p:cNvSpPr txBox="1"/>
          <p:nvPr/>
        </p:nvSpPr>
        <p:spPr>
          <a:xfrm>
            <a:off x="10623411" y="6492875"/>
            <a:ext cx="663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AD1DBB-E833-FC48-99E6-FEF331239477}"/>
              </a:ext>
            </a:extLst>
          </p:cNvPr>
          <p:cNvSpPr txBox="1"/>
          <p:nvPr/>
        </p:nvSpPr>
        <p:spPr>
          <a:xfrm>
            <a:off x="3830442" y="1481664"/>
            <a:ext cx="429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Abstract Concepts          Technical Language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F10E3E-7C57-F44C-8C46-F402F9E3BB6F}"/>
              </a:ext>
            </a:extLst>
          </p:cNvPr>
          <p:cNvSpPr txBox="1"/>
          <p:nvPr/>
        </p:nvSpPr>
        <p:spPr>
          <a:xfrm>
            <a:off x="3760750" y="6017973"/>
            <a:ext cx="4680724" cy="369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Concrete Representation   Everyday Language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73F268-6272-E14E-9CCE-9AD78F98E8DB}"/>
              </a:ext>
            </a:extLst>
          </p:cNvPr>
          <p:cNvSpPr txBox="1"/>
          <p:nvPr/>
        </p:nvSpPr>
        <p:spPr>
          <a:xfrm rot="16200000">
            <a:off x="-626375" y="3834844"/>
            <a:ext cx="2217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Harder to understand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B5C296-3B30-9B41-A716-F1109B27FECB}"/>
              </a:ext>
            </a:extLst>
          </p:cNvPr>
          <p:cNvCxnSpPr>
            <a:cxnSpLocks/>
          </p:cNvCxnSpPr>
          <p:nvPr/>
        </p:nvCxnSpPr>
        <p:spPr>
          <a:xfrm flipH="1" flipV="1">
            <a:off x="815280" y="1535915"/>
            <a:ext cx="36135" cy="4967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2D65B1E-9FC9-E944-A194-B265ECF61CA6}"/>
              </a:ext>
            </a:extLst>
          </p:cNvPr>
          <p:cNvCxnSpPr>
            <a:cxnSpLocks/>
          </p:cNvCxnSpPr>
          <p:nvPr/>
        </p:nvCxnSpPr>
        <p:spPr>
          <a:xfrm>
            <a:off x="851415" y="6503106"/>
            <a:ext cx="11049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93BA1E2-8399-EF4D-A5CB-B154F475BFC3}"/>
              </a:ext>
            </a:extLst>
          </p:cNvPr>
          <p:cNvSpPr/>
          <p:nvPr/>
        </p:nvSpPr>
        <p:spPr>
          <a:xfrm>
            <a:off x="3571105" y="2892812"/>
            <a:ext cx="152028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3. Introduction to print and input in Python (as a whole class)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0C042-41C5-E64D-AAA4-F33AE523038C}"/>
              </a:ext>
            </a:extLst>
          </p:cNvPr>
          <p:cNvSpPr txBox="1"/>
          <p:nvPr/>
        </p:nvSpPr>
        <p:spPr>
          <a:xfrm>
            <a:off x="6858234" y="2128945"/>
            <a:ext cx="22248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5. Class discussion evaluating programs as a model of human conversation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802452-DA7D-5943-A311-3A7970083D78}"/>
              </a:ext>
            </a:extLst>
          </p:cNvPr>
          <p:cNvSpPr/>
          <p:nvPr/>
        </p:nvSpPr>
        <p:spPr>
          <a:xfrm>
            <a:off x="9550159" y="393850"/>
            <a:ext cx="688396" cy="330736"/>
          </a:xfrm>
          <a:prstGeom prst="rect">
            <a:avLst/>
          </a:prstGeom>
          <a:solidFill>
            <a:schemeClr val="accent2">
              <a:tint val="66000"/>
              <a:satMod val="1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908500-966D-5545-90C2-3140F44749D6}"/>
              </a:ext>
            </a:extLst>
          </p:cNvPr>
          <p:cNvSpPr txBox="1"/>
          <p:nvPr/>
        </p:nvSpPr>
        <p:spPr>
          <a:xfrm>
            <a:off x="10238555" y="411182"/>
            <a:ext cx="166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= Application Area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86DF10-D5E7-3240-8B5C-7AB208BE64F5}"/>
              </a:ext>
            </a:extLst>
          </p:cNvPr>
          <p:cNvSpPr/>
          <p:nvPr/>
        </p:nvSpPr>
        <p:spPr>
          <a:xfrm>
            <a:off x="9534300" y="873923"/>
            <a:ext cx="720114" cy="33073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8AFDF9-2401-9E43-8A86-D06A911F52A3}"/>
              </a:ext>
            </a:extLst>
          </p:cNvPr>
          <p:cNvSpPr txBox="1"/>
          <p:nvPr/>
        </p:nvSpPr>
        <p:spPr>
          <a:xfrm>
            <a:off x="10254414" y="868557"/>
            <a:ext cx="1349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= Building Block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D1C7EA-B96D-2E4C-8B33-3D41EDA67228}"/>
              </a:ext>
            </a:extLst>
          </p:cNvPr>
          <p:cNvSpPr/>
          <p:nvPr/>
        </p:nvSpPr>
        <p:spPr>
          <a:xfrm>
            <a:off x="9550160" y="1353433"/>
            <a:ext cx="720114" cy="3244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FFB386-9A2C-D345-9474-A22B277FA3D2}"/>
              </a:ext>
            </a:extLst>
          </p:cNvPr>
          <p:cNvSpPr txBox="1"/>
          <p:nvPr/>
        </p:nvSpPr>
        <p:spPr>
          <a:xfrm>
            <a:off x="10273027" y="1321053"/>
            <a:ext cx="1884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= Creative Construction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358A28-9A9D-BD4F-9139-955E1B2E12C3}"/>
              </a:ext>
            </a:extLst>
          </p:cNvPr>
          <p:cNvSpPr/>
          <p:nvPr/>
        </p:nvSpPr>
        <p:spPr>
          <a:xfrm>
            <a:off x="1330012" y="2040557"/>
            <a:ext cx="183384" cy="1635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87BBD0-0C1F-954F-9DAC-2D2E33BE51B6}"/>
              </a:ext>
            </a:extLst>
          </p:cNvPr>
          <p:cNvSpPr/>
          <p:nvPr/>
        </p:nvSpPr>
        <p:spPr>
          <a:xfrm>
            <a:off x="3470601" y="5505008"/>
            <a:ext cx="183384" cy="1635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7AC0F53-9BBE-584C-9393-BCF6856E52E2}"/>
              </a:ext>
            </a:extLst>
          </p:cNvPr>
          <p:cNvSpPr/>
          <p:nvPr/>
        </p:nvSpPr>
        <p:spPr>
          <a:xfrm>
            <a:off x="5065672" y="4100130"/>
            <a:ext cx="183384" cy="1635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202F3C-CCF2-CE40-B945-7F1429996319}"/>
              </a:ext>
            </a:extLst>
          </p:cNvPr>
          <p:cNvSpPr/>
          <p:nvPr/>
        </p:nvSpPr>
        <p:spPr>
          <a:xfrm>
            <a:off x="6416258" y="3781028"/>
            <a:ext cx="183384" cy="1635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6A23F19-88CC-E142-A39F-2C6B6A07CBC8}"/>
              </a:ext>
            </a:extLst>
          </p:cNvPr>
          <p:cNvSpPr/>
          <p:nvPr/>
        </p:nvSpPr>
        <p:spPr>
          <a:xfrm>
            <a:off x="8922566" y="3074442"/>
            <a:ext cx="183384" cy="1635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A79E1E5-E933-4E4D-9A58-1BAD58CF94C2}"/>
              </a:ext>
            </a:extLst>
          </p:cNvPr>
          <p:cNvSpPr/>
          <p:nvPr/>
        </p:nvSpPr>
        <p:spPr>
          <a:xfrm>
            <a:off x="11185226" y="2171253"/>
            <a:ext cx="183384" cy="1635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18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381"/>
    </mc:Choice>
    <mc:Fallback>
      <p:transition spd="slow" advTm="1938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BF5EA-0B6C-C43E-786A-9F08B15E0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6EFE9-70AA-F4F2-63CA-63AA3054A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Focus in Lesson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E22C-6F84-6C9E-BB6C-C144DBE62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00" y="2030261"/>
            <a:ext cx="10515600" cy="1568377"/>
          </a:xfrm>
        </p:spPr>
        <p:txBody>
          <a:bodyPr>
            <a:normAutofit/>
          </a:bodyPr>
          <a:lstStyle/>
          <a:p>
            <a:r>
              <a:rPr lang="en-US" dirty="0"/>
              <a:t>Semantic waves – different representations (concrete to abstract) of (approximately) the same problem</a:t>
            </a:r>
          </a:p>
        </p:txBody>
      </p:sp>
      <p:pic>
        <p:nvPicPr>
          <p:cNvPr id="5" name="Graphic 4" descr="Female Profile outline">
            <a:extLst>
              <a:ext uri="{FF2B5EF4-FFF2-40B4-BE49-F238E27FC236}">
                <a16:creationId xmlns:a16="http://schemas.microsoft.com/office/drawing/2014/main" id="{465041B5-3A45-159C-946F-3308EFD22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055" y="4133401"/>
            <a:ext cx="2027904" cy="2027904"/>
          </a:xfrm>
          <a:prstGeom prst="rect">
            <a:avLst/>
          </a:prstGeom>
        </p:spPr>
      </p:pic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335A984C-8780-E2D2-6CAE-B50A211CDB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1885" y="4113421"/>
            <a:ext cx="1853381" cy="1853381"/>
          </a:xfrm>
          <a:prstGeom prst="rect">
            <a:avLst/>
          </a:prstGeom>
        </p:spPr>
      </p:pic>
      <p:sp>
        <p:nvSpPr>
          <p:cNvPr id="8" name="Oval Callout 7">
            <a:extLst>
              <a:ext uri="{FF2B5EF4-FFF2-40B4-BE49-F238E27FC236}">
                <a16:creationId xmlns:a16="http://schemas.microsoft.com/office/drawing/2014/main" id="{60B6B521-4B93-EF41-49B7-DF600CFA56F5}"/>
              </a:ext>
            </a:extLst>
          </p:cNvPr>
          <p:cNvSpPr/>
          <p:nvPr/>
        </p:nvSpPr>
        <p:spPr>
          <a:xfrm rot="1778560">
            <a:off x="1781267" y="4179773"/>
            <a:ext cx="841891" cy="852998"/>
          </a:xfrm>
          <a:prstGeom prst="wedgeEllipse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Callout 8">
            <a:extLst>
              <a:ext uri="{FF2B5EF4-FFF2-40B4-BE49-F238E27FC236}">
                <a16:creationId xmlns:a16="http://schemas.microsoft.com/office/drawing/2014/main" id="{9945BA22-A7EE-2AFD-F470-F75D84428386}"/>
              </a:ext>
            </a:extLst>
          </p:cNvPr>
          <p:cNvSpPr/>
          <p:nvPr/>
        </p:nvSpPr>
        <p:spPr>
          <a:xfrm rot="17492105">
            <a:off x="2909307" y="4194642"/>
            <a:ext cx="841891" cy="852998"/>
          </a:xfrm>
          <a:prstGeom prst="wedgeEllipse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772ADBA0-C970-CA74-3008-CD5A5EE7FCD3}"/>
              </a:ext>
            </a:extLst>
          </p:cNvPr>
          <p:cNvSpPr/>
          <p:nvPr/>
        </p:nvSpPr>
        <p:spPr>
          <a:xfrm>
            <a:off x="5207594" y="4469405"/>
            <a:ext cx="1902542" cy="570706"/>
          </a:xfrm>
          <a:prstGeom prst="left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 descr="Monitor with solid fill">
            <a:extLst>
              <a:ext uri="{FF2B5EF4-FFF2-40B4-BE49-F238E27FC236}">
                <a16:creationId xmlns:a16="http://schemas.microsoft.com/office/drawing/2014/main" id="{376A2280-666A-3831-1736-4D009C1158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1351" y="3689789"/>
            <a:ext cx="2354602" cy="23546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2517C0-15C4-AADD-B573-98441DBFD40D}"/>
              </a:ext>
            </a:extLst>
          </p:cNvPr>
          <p:cNvSpPr txBox="1"/>
          <p:nvPr/>
        </p:nvSpPr>
        <p:spPr>
          <a:xfrm>
            <a:off x="7677713" y="4245927"/>
            <a:ext cx="1607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 how are you?</a:t>
            </a:r>
          </a:p>
          <a:p>
            <a:r>
              <a:rPr lang="en-US" dirty="0"/>
              <a:t>|</a:t>
            </a:r>
          </a:p>
        </p:txBody>
      </p:sp>
      <p:pic>
        <p:nvPicPr>
          <p:cNvPr id="15" name="Graphic 14" descr="Female Profile outline">
            <a:extLst>
              <a:ext uri="{FF2B5EF4-FFF2-40B4-BE49-F238E27FC236}">
                <a16:creationId xmlns:a16="http://schemas.microsoft.com/office/drawing/2014/main" id="{2F5448FA-3737-EC64-3034-39693E4DC7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15953" y="3632803"/>
            <a:ext cx="2243909" cy="224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45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479"/>
    </mc:Choice>
    <mc:Fallback>
      <p:transition spd="slow" advTm="21479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FED7-F6CD-7E1A-BE96-4C849F58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CA61E-A443-B6E7-D3A4-8E3A65A03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Focus in Lesson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FAA9D-90D9-0AE9-DF52-39EBD7BC4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ABC – different representations of a programming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D7381-DBED-D79F-498B-ECB3365B3224}"/>
              </a:ext>
            </a:extLst>
          </p:cNvPr>
          <p:cNvSpPr txBox="1"/>
          <p:nvPr/>
        </p:nvSpPr>
        <p:spPr>
          <a:xfrm>
            <a:off x="2188836" y="2948924"/>
            <a:ext cx="3215148" cy="1200329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Have a back and forth “conversation” with your laptop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D67C7-CA22-E1D3-FE24-314909DFC80B}"/>
              </a:ext>
            </a:extLst>
          </p:cNvPr>
          <p:cNvSpPr txBox="1"/>
          <p:nvPr/>
        </p:nvSpPr>
        <p:spPr>
          <a:xfrm>
            <a:off x="2180160" y="4415238"/>
            <a:ext cx="3223824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Python </a:t>
            </a:r>
            <a:r>
              <a:rPr lang="en-US" sz="2400" dirty="0">
                <a:solidFill>
                  <a:schemeClr val="accent1"/>
                </a:solidFill>
                <a:latin typeface="Cambria" panose="02040503050406030204" pitchFamily="18" charset="0"/>
              </a:rPr>
              <a:t>print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accent1"/>
                </a:solidFill>
                <a:latin typeface="Cambria" panose="02040503050406030204" pitchFamily="18" charset="0"/>
              </a:rPr>
              <a:t>input</a:t>
            </a:r>
            <a:r>
              <a:rPr lang="en-US" sz="2400" dirty="0"/>
              <a:t> functions</a:t>
            </a:r>
          </a:p>
        </p:txBody>
      </p:sp>
      <p:sp>
        <p:nvSpPr>
          <p:cNvPr id="7" name="Up-down Arrow 6">
            <a:extLst>
              <a:ext uri="{FF2B5EF4-FFF2-40B4-BE49-F238E27FC236}">
                <a16:creationId xmlns:a16="http://schemas.microsoft.com/office/drawing/2014/main" id="{2EA8F148-CAA4-27F1-5F9E-B458A84B05AF}"/>
              </a:ext>
            </a:extLst>
          </p:cNvPr>
          <p:cNvSpPr/>
          <p:nvPr/>
        </p:nvSpPr>
        <p:spPr>
          <a:xfrm>
            <a:off x="5564092" y="3297451"/>
            <a:ext cx="357721" cy="1469441"/>
          </a:xfrm>
          <a:prstGeom prst="up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10497-AB05-99A5-C211-3A0F2C476053}"/>
              </a:ext>
            </a:extLst>
          </p:cNvPr>
          <p:cNvSpPr txBox="1"/>
          <p:nvPr/>
        </p:nvSpPr>
        <p:spPr>
          <a:xfrm>
            <a:off x="6096000" y="3133590"/>
            <a:ext cx="2850852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Write and interact with Python input/output program</a:t>
            </a:r>
          </a:p>
        </p:txBody>
      </p:sp>
    </p:spTree>
    <p:extLst>
      <p:ext uri="{BB962C8B-B14F-4D97-AF65-F5344CB8AC3E}">
        <p14:creationId xmlns:p14="http://schemas.microsoft.com/office/powerpoint/2010/main" val="1625694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947"/>
    </mc:Choice>
    <mc:Fallback>
      <p:transition spd="slow" advTm="56947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5B46-9DC8-3342-B2A5-95FD68F8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Focus in Lesson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CBC8C-659D-1F4D-8A1C-3FC780CB5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VPC (</a:t>
            </a:r>
            <a:r>
              <a:rPr lang="en-US" dirty="0" err="1"/>
              <a:t>Visualise</a:t>
            </a:r>
            <a:r>
              <a:rPr lang="en-US" dirty="0"/>
              <a:t>-Predict-Check) (</a:t>
            </a:r>
            <a:r>
              <a:rPr lang="en-US" dirty="0" err="1"/>
              <a:t>Patahuddin</a:t>
            </a:r>
            <a:r>
              <a:rPr lang="en-US" dirty="0"/>
              <a:t> et. al. (2020))</a:t>
            </a:r>
          </a:p>
          <a:p>
            <a:r>
              <a:rPr lang="en-US" dirty="0"/>
              <a:t>Reading code…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Reading code…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B9BB91-91BA-6E42-9ABC-267016C15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52797"/>
            <a:ext cx="9271310" cy="364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04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803"/>
    </mc:Choice>
    <mc:Fallback>
      <p:transition spd="slow" advTm="17803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3A3F-033D-D846-BEF1-A4A976030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Focus in Lesson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FA275-E334-7B40-8E8C-FC2DF4C26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… and writing code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9EC8E7-BD82-1F45-B3E0-B1F7DAE5C7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77" t="5155" r="30198"/>
          <a:stretch/>
        </p:blipFill>
        <p:spPr>
          <a:xfrm rot="5400000">
            <a:off x="4548954" y="1262210"/>
            <a:ext cx="4987939" cy="547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46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918"/>
    </mc:Choice>
    <mc:Fallback>
      <p:transition spd="slow" advTm="32918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6BEF6-67BB-4A42-8547-CD352B90C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615962" cy="1087894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  <a:br>
              <a:rPr lang="en-US" dirty="0"/>
            </a:br>
            <a:r>
              <a:rPr lang="en-US" dirty="0"/>
              <a:t>RQ1: spatial skills and programming ability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18B8D9-3E12-184E-B8CC-1DD3DC253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367183"/>
              </p:ext>
            </p:extLst>
          </p:nvPr>
        </p:nvGraphicFramePr>
        <p:xfrm>
          <a:off x="737838" y="1599125"/>
          <a:ext cx="10615962" cy="50364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7981">
                  <a:extLst>
                    <a:ext uri="{9D8B030D-6E8A-4147-A177-3AD203B41FA5}">
                      <a16:colId xmlns:a16="http://schemas.microsoft.com/office/drawing/2014/main" val="1554395878"/>
                    </a:ext>
                  </a:extLst>
                </a:gridCol>
                <a:gridCol w="5307981">
                  <a:extLst>
                    <a:ext uri="{9D8B030D-6E8A-4147-A177-3AD203B41FA5}">
                      <a16:colId xmlns:a16="http://schemas.microsoft.com/office/drawing/2014/main" val="2263249862"/>
                    </a:ext>
                  </a:extLst>
                </a:gridCol>
              </a:tblGrid>
              <a:tr h="674169">
                <a:tc>
                  <a:txBody>
                    <a:bodyPr/>
                    <a:lstStyle/>
                    <a:p>
                      <a:r>
                        <a:rPr lang="en-US" dirty="0"/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Pearson’s r/Spearman’s rho and 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182029"/>
                  </a:ext>
                </a:extLst>
              </a:tr>
              <a:tr h="674169">
                <a:tc>
                  <a:txBody>
                    <a:bodyPr/>
                    <a:lstStyle/>
                    <a:p>
                      <a:r>
                        <a:rPr lang="en-US" sz="2800" dirty="0"/>
                        <a:t>Pre-assessment SRI and Python programming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rho = 0.71, p 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340369"/>
                  </a:ext>
                </a:extLst>
              </a:tr>
              <a:tr h="674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Post-assessment SRI and Python programming 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rho = 0.69, p 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922713"/>
                  </a:ext>
                </a:extLst>
              </a:tr>
              <a:tr h="674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Pre-assessment SRI and exit passes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 = 0.45, p &lt; 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033123"/>
                  </a:ext>
                </a:extLst>
              </a:tr>
              <a:tr h="674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Post-assessment SRI and exit passes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 = 0.43, p &lt; 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982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056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7"/>
    </mc:Choice>
    <mc:Fallback>
      <p:transition spd="slow" advTm="407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AF242-AD23-2BEB-D187-24DF2950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856CF-1A48-E62C-0E5A-D2E69201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615962" cy="1087894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  <a:br>
              <a:rPr lang="en-US" dirty="0"/>
            </a:br>
            <a:r>
              <a:rPr lang="en-US" dirty="0"/>
              <a:t>RQ1: spatial skills and programming ability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6B4F1B-82C1-F1E2-23CA-366CDD8866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37838" y="1599125"/>
          <a:ext cx="10615962" cy="50364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7981">
                  <a:extLst>
                    <a:ext uri="{9D8B030D-6E8A-4147-A177-3AD203B41FA5}">
                      <a16:colId xmlns:a16="http://schemas.microsoft.com/office/drawing/2014/main" val="1554395878"/>
                    </a:ext>
                  </a:extLst>
                </a:gridCol>
                <a:gridCol w="5307981">
                  <a:extLst>
                    <a:ext uri="{9D8B030D-6E8A-4147-A177-3AD203B41FA5}">
                      <a16:colId xmlns:a16="http://schemas.microsoft.com/office/drawing/2014/main" val="2263249862"/>
                    </a:ext>
                  </a:extLst>
                </a:gridCol>
              </a:tblGrid>
              <a:tr h="674169">
                <a:tc>
                  <a:txBody>
                    <a:bodyPr/>
                    <a:lstStyle/>
                    <a:p>
                      <a:r>
                        <a:rPr lang="en-US" dirty="0"/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Pearson’s r/Spearman’s rho and 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182029"/>
                  </a:ext>
                </a:extLst>
              </a:tr>
              <a:tr h="674169">
                <a:tc>
                  <a:txBody>
                    <a:bodyPr/>
                    <a:lstStyle/>
                    <a:p>
                      <a:r>
                        <a:rPr lang="en-US" sz="2800" dirty="0"/>
                        <a:t>Pre-assessment SRI and Python programming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rho = 0.71, p 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340369"/>
                  </a:ext>
                </a:extLst>
              </a:tr>
              <a:tr h="674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Post-assessment SRI and Python programming 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rho = 0.69, p 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922713"/>
                  </a:ext>
                </a:extLst>
              </a:tr>
              <a:tr h="674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Pre-assessment SRI and exit passes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 = 0.45, p &lt; 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033123"/>
                  </a:ext>
                </a:extLst>
              </a:tr>
              <a:tr h="674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Post-assessment SRI and exit passes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 = 0.43, p &lt; 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9824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5EDA024-4942-2F4C-098F-73E919DCB641}"/>
              </a:ext>
            </a:extLst>
          </p:cNvPr>
          <p:cNvSpPr/>
          <p:nvPr/>
        </p:nvSpPr>
        <p:spPr>
          <a:xfrm>
            <a:off x="963752" y="2395029"/>
            <a:ext cx="9948809" cy="20679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Pupils with stronger spatial skills performed better on both measures of programming ability (exit passes + Python assessment)</a:t>
            </a:r>
          </a:p>
        </p:txBody>
      </p:sp>
    </p:spTree>
    <p:extLst>
      <p:ext uri="{BB962C8B-B14F-4D97-AF65-F5344CB8AC3E}">
        <p14:creationId xmlns:p14="http://schemas.microsoft.com/office/powerpoint/2010/main" val="4254461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19"/>
    </mc:Choice>
    <mc:Fallback>
      <p:transition spd="slow" advTm="1119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17EF-A29D-0846-9818-DABDF900E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704616" cy="1297420"/>
          </a:xfrm>
        </p:spPr>
        <p:txBody>
          <a:bodyPr>
            <a:normAutofit fontScale="90000"/>
          </a:bodyPr>
          <a:lstStyle/>
          <a:p>
            <a:r>
              <a:rPr lang="en-US" dirty="0"/>
              <a:t>RQ2: spatial skills and attitudes towards computing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D11689-4D2B-5F26-EFC5-E7841A6820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02284"/>
              </p:ext>
            </p:extLst>
          </p:nvPr>
        </p:nvGraphicFramePr>
        <p:xfrm>
          <a:off x="838200" y="1085640"/>
          <a:ext cx="10515600" cy="528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727152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99112804"/>
                    </a:ext>
                  </a:extLst>
                </a:gridCol>
              </a:tblGrid>
              <a:tr h="557670">
                <a:tc>
                  <a:txBody>
                    <a:bodyPr/>
                    <a:lstStyle/>
                    <a:p>
                      <a:r>
                        <a:rPr lang="en-US" sz="2000" dirty="0"/>
                        <a:t>Group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86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 (n=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 spatial skills and did not improve; struggled to learn Python; positive attitude and showed interest in learning.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642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2 (n=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Low spatial skills and did not improve; struggled to learn Python; not interested in learning Python; evidence some pupils had low self-confidence with respect to programming.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9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3 (n=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Initially middle spatial skills and showed improvement at post-test; showed some ability in learning Python; mix of interest levels.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708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4A (n=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All girls; strong spatial and programming skills; low interest in programming.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99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4B (n=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All boys; strong spatial and programming skills; strong interest in programming.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102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567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297"/>
    </mc:Choice>
    <mc:Fallback>
      <p:transition spd="slow" advTm="58297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BD0B8-10C6-2E8B-7FA8-B91DE833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EDC3-AC55-E735-3C5D-7AEB69040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8990" cy="1214293"/>
          </a:xfrm>
        </p:spPr>
        <p:txBody>
          <a:bodyPr>
            <a:normAutofit fontScale="90000"/>
          </a:bodyPr>
          <a:lstStyle/>
          <a:p>
            <a:r>
              <a:rPr lang="en-US" dirty="0"/>
              <a:t>RQ2: spatial skills and attitudes towards computing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F22DC5-455C-F908-7147-92B70B86DE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85640"/>
          <a:ext cx="10515600" cy="528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727152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99112804"/>
                    </a:ext>
                  </a:extLst>
                </a:gridCol>
              </a:tblGrid>
              <a:tr h="557670">
                <a:tc>
                  <a:txBody>
                    <a:bodyPr/>
                    <a:lstStyle/>
                    <a:p>
                      <a:r>
                        <a:rPr lang="en-US" sz="2000" dirty="0"/>
                        <a:t>Group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86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 (n=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 spatial skills and did not improve; struggled to learn Python; positive attitude and showed interest in learning.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642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2 (n=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Low spatial skills and did not improve; struggled to learn Python; not interested in learning Python; evidence some pupils had low self-confidence with respect to programming.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9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3 (n=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Initially middle spatial skills and showed improvement at post-test; showed some ability in learning Python; mix of interest levels.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708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4A (n=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All girls; strong spatial and programming skills; low interest in programming.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99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4B (n=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All boys; strong spatial and programming skills; strong interest in programming.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10222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B98FD55-5157-E6FD-493C-3E3F0E3D4504}"/>
              </a:ext>
            </a:extLst>
          </p:cNvPr>
          <p:cNvSpPr/>
          <p:nvPr/>
        </p:nvSpPr>
        <p:spPr>
          <a:xfrm>
            <a:off x="1023991" y="3704419"/>
            <a:ext cx="9948809" cy="20679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Data came from: pre- and post-assessment questionnaire, focus group sessions, exit pass responses, direct observations of pupils</a:t>
            </a:r>
          </a:p>
        </p:txBody>
      </p:sp>
    </p:spTree>
    <p:extLst>
      <p:ext uri="{BB962C8B-B14F-4D97-AF65-F5344CB8AC3E}">
        <p14:creationId xmlns:p14="http://schemas.microsoft.com/office/powerpoint/2010/main" val="761136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0"/>
    </mc:Choice>
    <mc:Fallback>
      <p:transition spd="slow" advTm="37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2CC48-9D42-9D6C-F47C-2D4A1857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FAC62-8CBC-93CC-22A4-D139BB76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716491" cy="1261794"/>
          </a:xfrm>
        </p:spPr>
        <p:txBody>
          <a:bodyPr>
            <a:normAutofit fontScale="90000"/>
          </a:bodyPr>
          <a:lstStyle/>
          <a:p>
            <a:r>
              <a:rPr lang="en-US" dirty="0"/>
              <a:t>RQ2: spatial skills and attitudes towards computing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293570-AC3F-DDF7-D4AF-92B34BC2DE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2493481"/>
              </p:ext>
            </p:extLst>
          </p:nvPr>
        </p:nvGraphicFramePr>
        <p:xfrm>
          <a:off x="838200" y="1085640"/>
          <a:ext cx="10515600" cy="528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727152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99112804"/>
                    </a:ext>
                  </a:extLst>
                </a:gridCol>
              </a:tblGrid>
              <a:tr h="557670">
                <a:tc>
                  <a:txBody>
                    <a:bodyPr/>
                    <a:lstStyle/>
                    <a:p>
                      <a:r>
                        <a:rPr lang="en-US" sz="2000" dirty="0"/>
                        <a:t>Group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86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 (n= 4)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 spatial skills and did not improve; struggled to learn Python; positive attitude and showed interest in learning.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642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2 (n= 6)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Low spatial skills and did not improve; struggled to learn Python; not interested in learning Python; evidence some pupils had low self-confidence with respect to programming. 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39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3 (n=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Initially middle spatial skills and showed improvement at post-test; showed some ability in learning Python; mix of interest levels.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708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4A (n=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All girls; strong spatial and programming skills; low interest in programming.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99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4B (n=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All boys; strong spatial and programming skills; strong interest in programming.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10222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3D6B416-43B0-5664-3830-DAA7803AD887}"/>
              </a:ext>
            </a:extLst>
          </p:cNvPr>
          <p:cNvSpPr/>
          <p:nvPr/>
        </p:nvSpPr>
        <p:spPr>
          <a:xfrm>
            <a:off x="1023991" y="4077578"/>
            <a:ext cx="9948809" cy="20679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4A96F4-31D6-296E-1F7C-F474B2B9B3DA}"/>
              </a:ext>
            </a:extLst>
          </p:cNvPr>
          <p:cNvSpPr txBox="1"/>
          <p:nvPr/>
        </p:nvSpPr>
        <p:spPr>
          <a:xfrm>
            <a:off x="1121595" y="4194511"/>
            <a:ext cx="99488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Finding programming challenging /= lack of interest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Lack of engagement indicating low self-efficacy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199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4"/>
    </mc:Choice>
    <mc:Fallback>
      <p:transition spd="slow" advTm="294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73D3-54D0-1F47-0192-372A01BA8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CC5FC-1B90-D51A-2EEC-4FF504EDF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45239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RQ2: spatial skills and attitudes towards computing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80E928-0115-A228-FB0C-A7FDC494F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0572846"/>
              </p:ext>
            </p:extLst>
          </p:nvPr>
        </p:nvGraphicFramePr>
        <p:xfrm>
          <a:off x="838200" y="1085640"/>
          <a:ext cx="10515600" cy="528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727152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99112804"/>
                    </a:ext>
                  </a:extLst>
                </a:gridCol>
              </a:tblGrid>
              <a:tr h="557670">
                <a:tc>
                  <a:txBody>
                    <a:bodyPr/>
                    <a:lstStyle/>
                    <a:p>
                      <a:r>
                        <a:rPr lang="en-US" sz="2000" dirty="0"/>
                        <a:t>Group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86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 (n=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 spatial skills and did not improve; struggled to learn Python; positive attitude and showed interest in learning.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642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2 (n=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Low spatial skills and did not improve; struggled to learn Python; not interested in learning Python; evidence some pupils had low self-confidence with respect to programming.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9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3 (n= 3)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Initially middle spatial skills and showed improvement at post-test; showed some ability in learning Python; mix of interest levels.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708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4A (n=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All girls; strong spatial and programming skills; low interest in programming.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99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4B (n=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All boys; strong spatial and programming skills; strong interest in programming.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10222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7F416E2-6CF4-E893-3887-297A32283A7D}"/>
              </a:ext>
            </a:extLst>
          </p:cNvPr>
          <p:cNvSpPr/>
          <p:nvPr/>
        </p:nvSpPr>
        <p:spPr>
          <a:xfrm>
            <a:off x="976489" y="1690688"/>
            <a:ext cx="9948809" cy="20679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Hit Zone of Proximal Development for Group 3</a:t>
            </a:r>
          </a:p>
        </p:txBody>
      </p:sp>
    </p:spTree>
    <p:extLst>
      <p:ext uri="{BB962C8B-B14F-4D97-AF65-F5344CB8AC3E}">
        <p14:creationId xmlns:p14="http://schemas.microsoft.com/office/powerpoint/2010/main" val="1576455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5"/>
    </mc:Choice>
    <mc:Fallback>
      <p:transition spd="slow" advTm="195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1E113-EE4B-7AE1-2A6C-DD3F59379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A9A90-6FD8-0BD3-2337-12366937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728366" cy="1297420"/>
          </a:xfrm>
        </p:spPr>
        <p:txBody>
          <a:bodyPr>
            <a:normAutofit fontScale="90000"/>
          </a:bodyPr>
          <a:lstStyle/>
          <a:p>
            <a:r>
              <a:rPr lang="en-US" dirty="0"/>
              <a:t>RQ2: spatial skills and attitudes towards computing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65B177-3D15-D9B5-FD91-7CC60E3B73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495333"/>
              </p:ext>
            </p:extLst>
          </p:nvPr>
        </p:nvGraphicFramePr>
        <p:xfrm>
          <a:off x="838200" y="1085640"/>
          <a:ext cx="10515600" cy="528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727152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99112804"/>
                    </a:ext>
                  </a:extLst>
                </a:gridCol>
              </a:tblGrid>
              <a:tr h="557670">
                <a:tc>
                  <a:txBody>
                    <a:bodyPr/>
                    <a:lstStyle/>
                    <a:p>
                      <a:r>
                        <a:rPr lang="en-US" sz="2000" dirty="0"/>
                        <a:t>Group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86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 (n=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 spatial skills and did not improve; struggled to learn Python; positive attitude and showed interest in learning.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642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2 (n=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Low spatial skills and did not improve; struggled to learn Python; not interested in learning Python; evidence some pupils had low self-confidence with respect to programming.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9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3 (n=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Initially middle spatial skills and showed improvement at post-test; showed some ability in learning Python; mix of interest levels.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708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4A (n= 5)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All girls; strong spatial and programming skills; low interest in programming.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99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4B (n= 4)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All boys; strong spatial and programming skills; strong interest in programming.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10222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8E871A8-A21E-DD75-DAFE-223BE1F010C5}"/>
              </a:ext>
            </a:extLst>
          </p:cNvPr>
          <p:cNvSpPr/>
          <p:nvPr/>
        </p:nvSpPr>
        <p:spPr>
          <a:xfrm>
            <a:off x="1000240" y="2165701"/>
            <a:ext cx="9948809" cy="20679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Gendered difference in attitudes to computing in high-performing pupils in programming and spatial skills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For boys ONLY: correlation between spatial </a:t>
            </a:r>
            <a:r>
              <a:rPr lang="en-US" sz="3200"/>
              <a:t>skills and</a:t>
            </a:r>
            <a:r>
              <a:rPr lang="en-US" sz="3200" dirty="0"/>
              <a:t> </a:t>
            </a:r>
            <a:r>
              <a:rPr lang="en-US" sz="3200"/>
              <a:t>enjoyment </a:t>
            </a:r>
            <a:r>
              <a:rPr lang="en-US" sz="3200" dirty="0"/>
              <a:t>of computing.</a:t>
            </a:r>
          </a:p>
        </p:txBody>
      </p:sp>
    </p:spTree>
    <p:extLst>
      <p:ext uri="{BB962C8B-B14F-4D97-AF65-F5344CB8AC3E}">
        <p14:creationId xmlns:p14="http://schemas.microsoft.com/office/powerpoint/2010/main" val="2130621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2"/>
    </mc:Choice>
    <mc:Fallback>
      <p:transition spd="slow" advTm="172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C1AE-539A-3143-A465-178051223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RQ3: change in spatial reasoning scores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A9031-07CD-1042-B123-494A52D01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4" y="1371600"/>
            <a:ext cx="8535458" cy="512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109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"/>
    </mc:Choice>
    <mc:Fallback>
      <p:transition spd="slow" advTm="15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30179-1815-F591-2D88-688E8820C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BE3B76-2AF8-761C-F84C-F00613C710BB}"/>
              </a:ext>
            </a:extLst>
          </p:cNvPr>
          <p:cNvSpPr/>
          <p:nvPr/>
        </p:nvSpPr>
        <p:spPr>
          <a:xfrm>
            <a:off x="8702385" y="1371600"/>
            <a:ext cx="3141099" cy="2057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BC8B65-DDD1-7DFD-453F-F164104F7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RQ3: change in spatial reasoning scores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6C9BA-5DDF-C95F-1D8C-F9417DFF8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1490" y="1582615"/>
            <a:ext cx="2958849" cy="15880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Overall improvement from pre- to post-assessment scores (p &lt; 0.01) – unreliable without control!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C6B23-9228-2425-85C8-8039F9BF0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4" y="1371600"/>
            <a:ext cx="8535458" cy="512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13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2"/>
    </mc:Choice>
    <mc:Fallback>
      <p:transition spd="slow" advTm="152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55E04-59EA-8223-DA60-BB134187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B61A75F-427D-E347-9FCB-3D2B39107926}"/>
              </a:ext>
            </a:extLst>
          </p:cNvPr>
          <p:cNvSpPr/>
          <p:nvPr/>
        </p:nvSpPr>
        <p:spPr>
          <a:xfrm>
            <a:off x="8702387" y="3540352"/>
            <a:ext cx="3141098" cy="28411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5790A3-67F8-AC63-7EFF-7E6FC4668AA6}"/>
              </a:ext>
            </a:extLst>
          </p:cNvPr>
          <p:cNvSpPr/>
          <p:nvPr/>
        </p:nvSpPr>
        <p:spPr>
          <a:xfrm>
            <a:off x="8702385" y="1371600"/>
            <a:ext cx="3141099" cy="2057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49B2B-9284-19D3-19C2-F0E93E1A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RQ3: change in spatial reasoning scores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885A3-A01F-157A-CAD9-150D66312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1490" y="1582615"/>
            <a:ext cx="2958849" cy="15880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Overall improvement from pre- to post-assessment scores (p &lt; 0.01) – unreliable without control!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B77BB-5889-7530-250A-0FC939329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4" y="1371600"/>
            <a:ext cx="8535458" cy="5121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CAA853-B8AD-5CF5-AE8C-06A260D5E70E}"/>
              </a:ext>
            </a:extLst>
          </p:cNvPr>
          <p:cNvSpPr txBox="1"/>
          <p:nvPr/>
        </p:nvSpPr>
        <p:spPr>
          <a:xfrm>
            <a:off x="8720364" y="3668275"/>
            <a:ext cx="3049975" cy="260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Greatest improvements for pupils with initially middling scores. Fewer improvements for pupils at extremes.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171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5"/>
    </mc:Choice>
    <mc:Fallback>
      <p:transition spd="slow" advTm="615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46C17-B217-1245-AFED-14585ECDF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findings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21600-AD55-6942-98F8-1D67ECE2D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Evidence that spatial skills can predict outcomes in learning programming even at primary school age.</a:t>
            </a:r>
          </a:p>
          <a:p>
            <a:r>
              <a:rPr lang="en-US" dirty="0"/>
              <a:t>Gendered difference in attitudes towards programming for pupils with strong spatial skills.</a:t>
            </a:r>
          </a:p>
          <a:p>
            <a:r>
              <a:rPr lang="en-US" dirty="0"/>
              <a:t>Improvement in spatial skills appears to depend on initial spatial skills.</a:t>
            </a:r>
          </a:p>
        </p:txBody>
      </p:sp>
    </p:spTree>
    <p:extLst>
      <p:ext uri="{BB962C8B-B14F-4D97-AF65-F5344CB8AC3E}">
        <p14:creationId xmlns:p14="http://schemas.microsoft.com/office/powerpoint/2010/main" val="2649603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32"/>
    </mc:Choice>
    <mc:Fallback>
      <p:transition spd="slow" advTm="2132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1DC1-36F9-647F-4F3F-C98C3F31D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8B962-804A-74A6-A234-7FA313BF2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findings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65E59-4679-8C37-E0AF-A9DFDFCAA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Evidence that spatial skills can predict outcomes in learning programming even at primary school age.</a:t>
            </a:r>
          </a:p>
          <a:p>
            <a:r>
              <a:rPr lang="en-US" dirty="0"/>
              <a:t>Gendered difference in attitudes towards programming for pupils with strong spatial skills.</a:t>
            </a:r>
          </a:p>
          <a:p>
            <a:r>
              <a:rPr lang="en-US" dirty="0"/>
              <a:t>Improvement in spatial skills appears to depend on initial spatial skills.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In future work, I want to explore spatial skills in different modes of primary CS teaching (unplugged, physical, coding) and the relative significance of spatial skills in determining attitudes towards programming.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4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673"/>
    </mc:Choice>
    <mc:Fallback>
      <p:transition spd="slow" advTm="89673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88AF-7F22-DBFB-1F20-950022824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C5978-1548-C3C3-50D1-846970FBA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dirty="0"/>
              <a:t>Bockmon, R. </a:t>
            </a:r>
            <a:r>
              <a:rPr lang="en-GB" i="1" dirty="0"/>
              <a:t>et al.</a:t>
            </a:r>
            <a:r>
              <a:rPr lang="en-GB" dirty="0"/>
              <a:t> (2020) ‘A CS1 Spatial Skills Intervention and the Impact on Introductory Programming Abilities’, </a:t>
            </a:r>
            <a:r>
              <a:rPr lang="en-GB" i="1" dirty="0"/>
              <a:t>Proceedings of the 51st ACM Technical Symposium on Computer Science Education</a:t>
            </a:r>
            <a:r>
              <a:rPr lang="en-GB" dirty="0"/>
              <a:t>. New York, NY, USA: Association for Computing Machinery (SIGCSE ’20), pp. 766–772. Available at: </a:t>
            </a:r>
            <a:r>
              <a:rPr lang="en-GB" dirty="0">
                <a:hlinkClick r:id="rId2"/>
              </a:rPr>
              <a:t>https://doi.org/10.1145/3328778.3366829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Cutts, Q. (2024) ‘Orienting learners and teachers in introductory programming classes: the ABC Framework’, </a:t>
            </a:r>
            <a:r>
              <a:rPr lang="en-GB" i="1" dirty="0"/>
              <a:t>Proceedings of the 8th Conference on Computing Education Practice</a:t>
            </a:r>
            <a:r>
              <a:rPr lang="en-GB" dirty="0"/>
              <a:t>. </a:t>
            </a:r>
            <a:r>
              <a:rPr lang="en-GB" i="1" dirty="0"/>
              <a:t>CEP ’24: Computing Education Practice</a:t>
            </a:r>
            <a:r>
              <a:rPr lang="en-GB" dirty="0"/>
              <a:t>, Durham United Kingdom: ACM, pp. 1–4. Available at: </a:t>
            </a:r>
            <a:r>
              <a:rPr lang="en-GB" dirty="0">
                <a:hlinkClick r:id="rId3"/>
              </a:rPr>
              <a:t>https://doi.org/10.1145/3633053.3633063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Curzon, P. </a:t>
            </a:r>
            <a:r>
              <a:rPr lang="en-GB" i="1" dirty="0"/>
              <a:t>et al.</a:t>
            </a:r>
            <a:r>
              <a:rPr lang="en-GB" dirty="0"/>
              <a:t> (2020) ‘Using semantic waves to analyse the effectiveness of unplugged computing activities’, </a:t>
            </a:r>
            <a:r>
              <a:rPr lang="en-GB" i="1" dirty="0"/>
              <a:t>Proceedings of the 15th Workshop on Primary and Secondary Computing Education</a:t>
            </a:r>
            <a:r>
              <a:rPr lang="en-GB" dirty="0"/>
              <a:t>. </a:t>
            </a:r>
            <a:r>
              <a:rPr lang="en-GB" i="1" dirty="0" err="1"/>
              <a:t>WiPSCE</a:t>
            </a:r>
            <a:r>
              <a:rPr lang="en-GB" i="1" dirty="0"/>
              <a:t> ’20: Workshop in Primary and Secondary Computing Education</a:t>
            </a:r>
            <a:r>
              <a:rPr lang="en-GB" dirty="0"/>
              <a:t>, Virtual Event Germany: ACM, pp. 1–10. Available at: </a:t>
            </a:r>
            <a:r>
              <a:rPr lang="en-GB" dirty="0">
                <a:hlinkClick r:id="rId4"/>
              </a:rPr>
              <a:t>https://doi.org/10.1145/3421590.3421606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Hawes, Z. </a:t>
            </a:r>
            <a:r>
              <a:rPr lang="en-GB" i="1" dirty="0"/>
              <a:t>et al.</a:t>
            </a:r>
            <a:r>
              <a:rPr lang="en-GB" dirty="0"/>
              <a:t> (2017) ‘Enhancing Children’s Spatial and Numerical Skills through a Dynamic Spatial Approach to Early Geometry Instruction: Effects of a 32-Week Intervention’, </a:t>
            </a:r>
            <a:r>
              <a:rPr lang="en-GB" i="1" dirty="0"/>
              <a:t>Cognition and Instruction</a:t>
            </a:r>
            <a:r>
              <a:rPr lang="en-GB" dirty="0"/>
              <a:t>, 35(3), pp. 236–264. Available at: </a:t>
            </a:r>
            <a:r>
              <a:rPr lang="en-GB" dirty="0">
                <a:hlinkClick r:id="rId5"/>
              </a:rPr>
              <a:t>https://doi.org/10.1080/07370008.2017.1323902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Lowrie, T. and Logan, T. (2023) ‘Spatial Visualization Supports Students’ Math: Mechanisms for Spatial Transfer’, </a:t>
            </a:r>
            <a:r>
              <a:rPr lang="en-GB" i="1" dirty="0"/>
              <a:t>Journal of Intelligence</a:t>
            </a:r>
            <a:r>
              <a:rPr lang="en-GB" dirty="0"/>
              <a:t>, 11(6), p. 127. Available at: </a:t>
            </a:r>
            <a:r>
              <a:rPr lang="en-GB" dirty="0">
                <a:hlinkClick r:id="rId6"/>
              </a:rPr>
              <a:t>https://doi.org/10.3390/jintelligence11060127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Messer, D. </a:t>
            </a:r>
            <a:r>
              <a:rPr lang="en-GB" i="1" dirty="0"/>
              <a:t>et al.</a:t>
            </a:r>
            <a:r>
              <a:rPr lang="en-GB" dirty="0"/>
              <a:t> (2018) ‘Evaluating the effectiveness of an educational programming intervention on children’s mathematics skills, spatial awareness and working memory.’, </a:t>
            </a:r>
            <a:r>
              <a:rPr lang="en-GB" i="1" dirty="0"/>
              <a:t>Education and Information Technologies</a:t>
            </a:r>
            <a:r>
              <a:rPr lang="en-GB" dirty="0"/>
              <a:t>, 23(6), pp. 2879–2889. Available at: </a:t>
            </a:r>
            <a:r>
              <a:rPr lang="en-GB" dirty="0">
                <a:hlinkClick r:id="rId7"/>
              </a:rPr>
              <a:t>https://doi.org/10.1007/s10639-018-9747-x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Parkinson, J. and Cutts, Q. (2025) ‘Improving Primary School Pupils’ Spatial Skills Leads to Computational Thinking Gains’, </a:t>
            </a:r>
            <a:r>
              <a:rPr lang="en-GB" i="1" dirty="0"/>
              <a:t>Proceedings of the 30th ACM Conference on Innovation and Technology in Computer Science Education V. 1</a:t>
            </a:r>
            <a:r>
              <a:rPr lang="en-GB" dirty="0"/>
              <a:t>. New York, NY, USA: Association for Computing Machinery (</a:t>
            </a:r>
            <a:r>
              <a:rPr lang="en-GB" dirty="0" err="1"/>
              <a:t>ITiCSE</a:t>
            </a:r>
            <a:r>
              <a:rPr lang="en-GB" dirty="0"/>
              <a:t> 2025), pp. 646–652. Available at: </a:t>
            </a:r>
            <a:r>
              <a:rPr lang="en-GB" dirty="0">
                <a:hlinkClick r:id="rId8"/>
              </a:rPr>
              <a:t>https://doi.org/10.1145/3724363.3729075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Parkinson, J. and Cutts, Q. (2020) ‘The Effect of a Spatial Skills Training Course in Introductory Computing’, </a:t>
            </a:r>
            <a:r>
              <a:rPr lang="en-GB" i="1" dirty="0"/>
              <a:t>Proceedings of the 2020 ACM Conference on Innovation and Technology in Computer Science Education</a:t>
            </a:r>
            <a:r>
              <a:rPr lang="en-GB" dirty="0"/>
              <a:t>. New York, NY, USA: Association for Computing Machinery (</a:t>
            </a:r>
            <a:r>
              <a:rPr lang="en-GB" dirty="0" err="1"/>
              <a:t>ITiCSE</a:t>
            </a:r>
            <a:r>
              <a:rPr lang="en-GB" dirty="0"/>
              <a:t> ’20), pp. 439–445. Available at: </a:t>
            </a:r>
            <a:r>
              <a:rPr lang="en-GB" dirty="0">
                <a:hlinkClick r:id="rId9"/>
              </a:rPr>
              <a:t>https://doi.org/10.1145/3341525.3387413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 err="1"/>
              <a:t>Patahuddin</a:t>
            </a:r>
            <a:r>
              <a:rPr lang="en-GB" dirty="0"/>
              <a:t>, S.M., </a:t>
            </a:r>
            <a:r>
              <a:rPr lang="en-GB" dirty="0" err="1"/>
              <a:t>Rokhmah</a:t>
            </a:r>
            <a:r>
              <a:rPr lang="en-GB" dirty="0"/>
              <a:t>, S. and Ramful, A. (2020) ‘What does teaching of spatial visualisation skills incur: an exploration through the visualise-predict-check heuristic’, </a:t>
            </a:r>
            <a:r>
              <a:rPr lang="en-GB" i="1" dirty="0"/>
              <a:t>Mathematics Education Research Journal</a:t>
            </a:r>
            <a:r>
              <a:rPr lang="en-GB" dirty="0"/>
              <a:t>, 32(2), pp. 307–329. Available at: </a:t>
            </a:r>
            <a:r>
              <a:rPr lang="en-GB" dirty="0">
                <a:hlinkClick r:id="rId10"/>
              </a:rPr>
              <a:t>https://doi.org/10.1007/s13394-020-00321-2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337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02"/>
    </mc:Choice>
    <mc:Fallback>
      <p:transition spd="slow" advTm="4302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28037</TotalTime>
  <Words>2700</Words>
  <Application>Microsoft Macintosh PowerPoint</Application>
  <PresentationFormat>Widescreen</PresentationFormat>
  <Paragraphs>255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Arial</vt:lpstr>
      <vt:lpstr>Calibri</vt:lpstr>
      <vt:lpstr>Calibri Light</vt:lpstr>
      <vt:lpstr>Cambria</vt:lpstr>
      <vt:lpstr>Wingdings</vt:lpstr>
      <vt:lpstr>Office Theme</vt:lpstr>
      <vt:lpstr>Investigating the relationships between spatial skills, programming and attitudes towards computing in a middle school age group</vt:lpstr>
      <vt:lpstr>Another spatial reasoning quiz…</vt:lpstr>
      <vt:lpstr>Another spatial reasoning quiz…</vt:lpstr>
      <vt:lpstr>Background</vt:lpstr>
      <vt:lpstr>Motivation - Research Gap</vt:lpstr>
      <vt:lpstr>Motivation - Research Gap</vt:lpstr>
      <vt:lpstr>Motivation - Research Gap</vt:lpstr>
      <vt:lpstr>Motivation - Research Gap</vt:lpstr>
      <vt:lpstr>Motivation - Research Gap</vt:lpstr>
      <vt:lpstr>Motivation - Research Gap</vt:lpstr>
      <vt:lpstr>Motivation - Background</vt:lpstr>
      <vt:lpstr>Motivation - Background</vt:lpstr>
      <vt:lpstr>Motivation - Background</vt:lpstr>
      <vt:lpstr>Motivation - Background</vt:lpstr>
      <vt:lpstr>Approach</vt:lpstr>
      <vt:lpstr>Language Choice</vt:lpstr>
      <vt:lpstr>Language Choice</vt:lpstr>
      <vt:lpstr>Overview of Lessons</vt:lpstr>
      <vt:lpstr>Lesson Structure – Semantic Waves + ABC</vt:lpstr>
      <vt:lpstr>Lesson 2 Example</vt:lpstr>
      <vt:lpstr>Spatial Focus in Lesson Structure</vt:lpstr>
      <vt:lpstr>Spatial Focus in Lesson Structure</vt:lpstr>
      <vt:lpstr>Spatial Focus in Lesson Structure</vt:lpstr>
      <vt:lpstr>Spatial Focus in Lesson Structure</vt:lpstr>
      <vt:lpstr>Results RQ1: spatial skills and programming ability</vt:lpstr>
      <vt:lpstr>Results RQ1: spatial skills and programming ability</vt:lpstr>
      <vt:lpstr>RQ2: spatial skills and attitudes towards computing </vt:lpstr>
      <vt:lpstr>RQ2: spatial skills and attitudes towards computing </vt:lpstr>
      <vt:lpstr>RQ2: spatial skills and attitudes towards computing </vt:lpstr>
      <vt:lpstr>RQ2: spatial skills and attitudes towards computing </vt:lpstr>
      <vt:lpstr>RQ2: spatial skills and attitudes towards computing </vt:lpstr>
      <vt:lpstr>RQ3: change in spatial reasoning scores </vt:lpstr>
      <vt:lpstr>RQ3: change in spatial reasoning scores </vt:lpstr>
      <vt:lpstr>RQ3: change in spatial reasoning scores </vt:lpstr>
      <vt:lpstr>Main findings and future work</vt:lpstr>
      <vt:lpstr>Main findings and future work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Investigating the relationship between spatial skills, programming and attitudes in a primary school class</dc:title>
  <dc:subject/>
  <dc:creator>Juliet Wallace (student)</dc:creator>
  <cp:keywords/>
  <dc:description/>
  <cp:lastModifiedBy>Juliet Wallace (student)</cp:lastModifiedBy>
  <cp:revision>479</cp:revision>
  <dcterms:created xsi:type="dcterms:W3CDTF">2026-03-19T11:48:40Z</dcterms:created>
  <dcterms:modified xsi:type="dcterms:W3CDTF">2026-08-31T09:42:51Z</dcterms:modified>
  <cp:category/>
</cp:coreProperties>
</file>